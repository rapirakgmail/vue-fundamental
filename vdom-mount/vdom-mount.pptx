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10"/>
  </p:notesMasterIdLst>
  <p:handoutMasterIdLst>
    <p:handoutMasterId r:id="rId11"/>
  </p:handoutMasterIdLst>
  <p:sldIdLst>
    <p:sldId id="256" r:id="rId5"/>
    <p:sldId id="314" r:id="rId6"/>
    <p:sldId id="316" r:id="rId7"/>
    <p:sldId id="310" r:id="rId8"/>
    <p:sldId id="317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lcome" id="{E75E278A-FF0E-49A4-B170-79828D63BBAD}">
          <p14:sldIdLst>
            <p14:sldId id="256"/>
            <p14:sldId id="314"/>
            <p14:sldId id="316"/>
            <p14:sldId id="310"/>
            <p14:sldId id="317"/>
          </p14:sldIdLst>
        </p14:section>
        <p14:section name="Design, Morph, Annotate, Work Together, Tell Me" id="{B9B51309-D148-4332-87C2-07BE32FBCA3B}">
          <p14:sldIdLst/>
        </p14:section>
        <p14:section name="Learn More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404040"/>
    <a:srgbClr val="FF9B45"/>
    <a:srgbClr val="DD462F"/>
    <a:srgbClr val="F8CFB6"/>
    <a:srgbClr val="F8CAB6"/>
    <a:srgbClr val="923922"/>
    <a:srgbClr val="F5F5F5"/>
    <a:srgbClr val="F2F2F2"/>
    <a:srgbClr val="D2B4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62" autoAdjust="0"/>
    <p:restoredTop sz="87234" autoAdjust="0"/>
  </p:normalViewPr>
  <p:slideViewPr>
    <p:cSldViewPr snapToGrid="0">
      <p:cViewPr varScale="1">
        <p:scale>
          <a:sx n="95" d="100"/>
          <a:sy n="95" d="100"/>
        </p:scale>
        <p:origin x="1020" y="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680FBE-A8DF-4758-9AC4-3A9E1039168F}" type="datetimeFigureOut">
              <a:rPr lang="en-US" smtClean="0"/>
              <a:t>11/05/2026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679768-A2FC-4D08-91F6-8DCE6C566B3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13577B-6902-467D-A26C-08A0DD5E4E03}" type="datetimeFigureOut">
              <a:rPr lang="en-US" smtClean="0"/>
              <a:t>11/05/2026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61EA0F-A667-4B49-8422-0062BC55E24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80944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C7B35-D450-B19F-8A95-D147AE1B8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42892F-699E-024C-CFE5-AE918EF60D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40FA13-3966-7DBD-5B52-76D0F88568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56FB7-FB21-212C-A343-BF4E96FCC4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0483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Click to edit Master text styles</a:t>
            </a:r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Second level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Third level</a:t>
            </a:r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Fourth level</a:t>
            </a:r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6" name="Date Placeholder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8BEEBAAA-29B5-4AF5-BC5F-7E580C29002D}" type="datetimeFigureOut">
              <a:rPr lang="en-US" smtClean="0"/>
              <a:pPr/>
              <a:t>11/05/2026</a:t>
            </a:fld>
            <a:endParaRPr lang="en-US" dirty="0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0" name="Rectangle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Click to edit Master text styles</a:t>
            </a:r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Second level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Third level</a:t>
            </a:r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Fourth level</a:t>
            </a:r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8BEEBAAA-29B5-4AF5-BC5F-7E580C29002D}" type="datetimeFigureOut">
              <a:rPr lang="en-US" smtClean="0"/>
              <a:pPr/>
              <a:t>11/05/2026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txStyles>
    <p:titleStyle>
      <a:lvl1pPr algn="l" defTabSz="9144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69619" y="1702741"/>
            <a:ext cx="10962373" cy="2387600"/>
          </a:xfrm>
        </p:spPr>
        <p:txBody>
          <a:bodyPr anchor="ctr" anchorCtr="0">
            <a:normAutofit/>
          </a:bodyPr>
          <a:lstStyle/>
          <a:p>
            <a:pPr algn="ctr"/>
            <a:br>
              <a:rPr lang="en-US" sz="3600" b="1" dirty="0">
                <a:solidFill>
                  <a:schemeClr val="bg2">
                    <a:lumMod val="10000"/>
                  </a:schemeClr>
                </a:solidFill>
              </a:rPr>
            </a:br>
            <a:r>
              <a:rPr lang="en-US" sz="3600" b="1" dirty="0">
                <a:solidFill>
                  <a:schemeClr val="bg2">
                    <a:lumMod val="10000"/>
                  </a:schemeClr>
                </a:solidFill>
              </a:rPr>
              <a:t>Virtual DOM &amp;DOM in VUE Lifecycle:</a:t>
            </a:r>
            <a:br>
              <a:rPr lang="en-US" sz="3600" b="1" dirty="0">
                <a:solidFill>
                  <a:schemeClr val="bg2">
                    <a:lumMod val="10000"/>
                  </a:schemeClr>
                </a:solidFill>
              </a:rPr>
            </a:br>
            <a:r>
              <a:rPr lang="en-US" sz="3600" b="1" dirty="0" err="1">
                <a:solidFill>
                  <a:schemeClr val="bg2">
                    <a:lumMod val="10000"/>
                  </a:schemeClr>
                </a:solidFill>
              </a:rPr>
              <a:t>Mounting&amp;Ummonting</a:t>
            </a:r>
            <a:r>
              <a:rPr lang="en-US" sz="3600" b="1" dirty="0">
                <a:solidFill>
                  <a:schemeClr val="bg2">
                    <a:lumMod val="10000"/>
                  </a:schemeClr>
                </a:solidFill>
              </a:rPr>
              <a:t> Phase</a:t>
            </a:r>
          </a:p>
        </p:txBody>
      </p:sp>
      <p:pic>
        <p:nvPicPr>
          <p:cNvPr id="4" name="Picture 3" descr="PowerPoint program icon"/>
          <p:cNvPicPr>
            <a:picLocks noChangeAspect="1"/>
          </p:cNvPicPr>
          <p:nvPr/>
        </p:nvPicPr>
        <p:blipFill>
          <a:blip r:embed="rId3"/>
          <a:srcRect/>
          <a:stretch/>
        </p:blipFill>
        <p:spPr bwMode="invGray">
          <a:xfrm>
            <a:off x="670216" y="5193062"/>
            <a:ext cx="822960" cy="822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72F5E-B528-257B-A152-674CA2EAE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307380"/>
            <a:ext cx="6877119" cy="640080"/>
          </a:xfrm>
        </p:spPr>
        <p:txBody>
          <a:bodyPr>
            <a:normAutofit/>
          </a:bodyPr>
          <a:lstStyle/>
          <a:p>
            <a:r>
              <a:rPr lang="nl-NL" b="1" dirty="0"/>
              <a:t>HTML DOM (Document Object Model) 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E06298-102E-B2BD-C490-A40169C752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382" y="1232062"/>
            <a:ext cx="8992855" cy="45726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DFF156F-05DB-D9BC-B1B7-159A262B5701}"/>
              </a:ext>
            </a:extLst>
          </p:cNvPr>
          <p:cNvSpPr txBox="1"/>
          <p:nvPr/>
        </p:nvSpPr>
        <p:spPr>
          <a:xfrm>
            <a:off x="1197639" y="6229980"/>
            <a:ext cx="7620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https://www.geeksforgeeks.org/javascript/dom-document-object-model/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AA76D2-19DC-EC5C-F738-EBFD1C9476A8}"/>
              </a:ext>
            </a:extLst>
          </p:cNvPr>
          <p:cNvSpPr txBox="1"/>
          <p:nvPr/>
        </p:nvSpPr>
        <p:spPr>
          <a:xfrm>
            <a:off x="1386671" y="5898383"/>
            <a:ext cx="102740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Vue : create DOM  Based component concept</a:t>
            </a:r>
          </a:p>
        </p:txBody>
      </p:sp>
    </p:spTree>
    <p:extLst>
      <p:ext uri="{BB962C8B-B14F-4D97-AF65-F5344CB8AC3E}">
        <p14:creationId xmlns:p14="http://schemas.microsoft.com/office/powerpoint/2010/main" val="22271348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C371A2-BB8A-88C5-B17E-5889EBA67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07864"/>
            <a:ext cx="9346273" cy="640080"/>
          </a:xfrm>
        </p:spPr>
        <p:txBody>
          <a:bodyPr>
            <a:normAutofit fontScale="90000"/>
          </a:bodyPr>
          <a:lstStyle/>
          <a:p>
            <a:r>
              <a:rPr lang="th-TH" b="1" dirty="0"/>
              <a:t>แนวคิด</a:t>
            </a:r>
            <a:r>
              <a:rPr lang="en-US" b="1" dirty="0"/>
              <a:t> COMPONENT </a:t>
            </a:r>
            <a:r>
              <a:rPr lang="th-TH" b="1" dirty="0"/>
              <a:t>ของ</a:t>
            </a:r>
            <a:r>
              <a:rPr lang="en-US" b="1" dirty="0"/>
              <a:t> VUE : Virtual  </a:t>
            </a:r>
            <a:r>
              <a:rPr lang="en-US" dirty="0"/>
              <a:t>DOM (VDOM) CONCEPT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DBCB9D-1086-FBE4-ACD6-DA37B842A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636" y="1173998"/>
            <a:ext cx="10557152" cy="370961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C1FC407-0E70-BFA0-D965-4F24C38AF6D5}"/>
              </a:ext>
            </a:extLst>
          </p:cNvPr>
          <p:cNvSpPr txBox="1"/>
          <p:nvPr/>
        </p:nvSpPr>
        <p:spPr>
          <a:xfrm>
            <a:off x="3519438" y="4768497"/>
            <a:ext cx="2248316" cy="175432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pt-BR" dirty="0">
                <a:solidFill>
                  <a:srgbClr val="FF0000"/>
                </a:solidFill>
              </a:rPr>
              <a:t>function render() {</a:t>
            </a:r>
          </a:p>
          <a:p>
            <a:r>
              <a:rPr lang="pt-BR" dirty="0">
                <a:solidFill>
                  <a:srgbClr val="FF0000"/>
                </a:solidFill>
              </a:rPr>
              <a:t>  return h('div', [</a:t>
            </a:r>
          </a:p>
          <a:p>
            <a:r>
              <a:rPr lang="pt-BR" dirty="0">
                <a:solidFill>
                  <a:srgbClr val="FF0000"/>
                </a:solidFill>
              </a:rPr>
              <a:t>    h('h1', 'Hello'),</a:t>
            </a:r>
          </a:p>
          <a:p>
            <a:r>
              <a:rPr lang="pt-BR" dirty="0">
                <a:solidFill>
                  <a:srgbClr val="FF0000"/>
                </a:solidFill>
              </a:rPr>
              <a:t>    h('p', msg)</a:t>
            </a:r>
          </a:p>
          <a:p>
            <a:r>
              <a:rPr lang="pt-BR" dirty="0">
                <a:solidFill>
                  <a:srgbClr val="FF0000"/>
                </a:solidFill>
              </a:rPr>
              <a:t>  ])</a:t>
            </a:r>
          </a:p>
          <a:p>
            <a:r>
              <a:rPr lang="pt-BR" dirty="0">
                <a:solidFill>
                  <a:srgbClr val="FF0000"/>
                </a:solidFill>
              </a:rPr>
              <a:t>}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4CD046-80E0-8472-1B95-AB5DE6218684}"/>
              </a:ext>
            </a:extLst>
          </p:cNvPr>
          <p:cNvSpPr txBox="1"/>
          <p:nvPr/>
        </p:nvSpPr>
        <p:spPr>
          <a:xfrm>
            <a:off x="6684676" y="4963778"/>
            <a:ext cx="2579904" cy="14773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div</a:t>
            </a:r>
          </a:p>
          <a:p>
            <a:r>
              <a:rPr lang="en-US" dirty="0"/>
              <a:t> ├── h1</a:t>
            </a:r>
          </a:p>
          <a:p>
            <a:r>
              <a:rPr lang="en-US" dirty="0"/>
              <a:t> │    </a:t>
            </a:r>
            <a:r>
              <a:rPr lang="th-TH" dirty="0"/>
              <a:t>    </a:t>
            </a:r>
            <a:r>
              <a:rPr lang="en-US" dirty="0"/>
              <a:t>└── "Hello"</a:t>
            </a:r>
          </a:p>
          <a:p>
            <a:r>
              <a:rPr lang="en-US" dirty="0"/>
              <a:t> └── p</a:t>
            </a:r>
          </a:p>
          <a:p>
            <a:r>
              <a:rPr lang="en-US" dirty="0"/>
              <a:t>    </a:t>
            </a:r>
            <a:r>
              <a:rPr lang="th-TH" dirty="0"/>
              <a:t>      </a:t>
            </a:r>
            <a:r>
              <a:rPr lang="en-US" dirty="0"/>
              <a:t>  └── msg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23CDBD-20A0-011B-9A51-0C1663E43286}"/>
              </a:ext>
            </a:extLst>
          </p:cNvPr>
          <p:cNvSpPr txBox="1"/>
          <p:nvPr/>
        </p:nvSpPr>
        <p:spPr>
          <a:xfrm>
            <a:off x="738563" y="5031934"/>
            <a:ext cx="2125217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dirty="0"/>
              <a:t>&lt;div&gt;</a:t>
            </a:r>
          </a:p>
          <a:p>
            <a:r>
              <a:rPr lang="en-US" dirty="0"/>
              <a:t>  &lt;h1&gt;Hello&lt;/h1&gt;</a:t>
            </a:r>
          </a:p>
          <a:p>
            <a:r>
              <a:rPr lang="en-US" dirty="0"/>
              <a:t>  &lt;p&gt;{{ msg }}&lt;/p&gt;</a:t>
            </a:r>
          </a:p>
          <a:p>
            <a:r>
              <a:rPr lang="en-US" dirty="0"/>
              <a:t>&lt;/div&gt;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A41671F-2B59-1886-AF45-99916FADBC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2687" y="2910331"/>
            <a:ext cx="1517301" cy="103733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D24C082-63DE-7273-F710-68AF14B8C9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2765" y="2708387"/>
            <a:ext cx="2510136" cy="1980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9311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6D8CA-6CAA-A0F0-D78C-62E4F460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953" y="448056"/>
            <a:ext cx="6877119" cy="640080"/>
          </a:xfrm>
        </p:spPr>
        <p:txBody>
          <a:bodyPr/>
          <a:lstStyle/>
          <a:p>
            <a:r>
              <a:rPr lang="th-TH" b="1" dirty="0"/>
              <a:t>กระบวนการ</a:t>
            </a:r>
            <a:r>
              <a:rPr lang="en-US" b="1" dirty="0"/>
              <a:t> render component </a:t>
            </a:r>
            <a:r>
              <a:rPr lang="th-TH" b="1" dirty="0"/>
              <a:t>ของ</a:t>
            </a:r>
            <a:r>
              <a:rPr lang="en-US" b="1" dirty="0"/>
              <a:t> VUE</a:t>
            </a:r>
            <a:endParaRPr lang="nl-NL" b="1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08A15A6-F226-8E3A-F86B-BF468F682754}"/>
              </a:ext>
            </a:extLst>
          </p:cNvPr>
          <p:cNvSpPr txBox="1">
            <a:spLocks/>
          </p:cNvSpPr>
          <p:nvPr/>
        </p:nvSpPr>
        <p:spPr>
          <a:xfrm>
            <a:off x="202127" y="0"/>
            <a:ext cx="11950117" cy="669041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514350" indent="-514350">
              <a:buAutoNum type="arabicPeriod"/>
            </a:pPr>
            <a:r>
              <a:rPr lang="en-US" sz="3200" b="1" dirty="0"/>
              <a:t>Creation Phase: </a:t>
            </a:r>
          </a:p>
          <a:p>
            <a:pPr lvl="1"/>
            <a:r>
              <a:rPr lang="en-US" sz="2200" dirty="0"/>
              <a:t>	Component is initialized, but </a:t>
            </a:r>
            <a:r>
              <a:rPr lang="en-US" sz="2200" b="1" dirty="0"/>
              <a:t>not yet in DOM</a:t>
            </a:r>
          </a:p>
          <a:p>
            <a:pPr marL="514350" indent="-514350">
              <a:buAutoNum type="arabicPeriod"/>
            </a:pPr>
            <a:endParaRPr lang="en-US" sz="3200" b="1" dirty="0"/>
          </a:p>
          <a:p>
            <a:pPr marL="514350" indent="-514350">
              <a:buAutoNum type="arabicPeriod"/>
            </a:pPr>
            <a:r>
              <a:rPr lang="en-US" sz="3200" b="1" dirty="0"/>
              <a:t>Mounting Phase: </a:t>
            </a:r>
          </a:p>
          <a:p>
            <a:pPr lvl="1"/>
            <a:r>
              <a:rPr lang="en-US" sz="2200" dirty="0"/>
              <a:t>		</a:t>
            </a:r>
          </a:p>
          <a:p>
            <a:pPr lvl="1"/>
            <a:endParaRPr lang="en-US" sz="3200" b="1" dirty="0"/>
          </a:p>
          <a:p>
            <a:pPr marL="514350" indent="-514350">
              <a:buAutoNum type="arabicPeriod"/>
            </a:pPr>
            <a:r>
              <a:rPr lang="en-US" sz="3200" b="1" dirty="0"/>
              <a:t>Updating Phase: </a:t>
            </a:r>
          </a:p>
          <a:p>
            <a:pPr lvl="1"/>
            <a:endParaRPr lang="en-US" sz="2200" dirty="0"/>
          </a:p>
          <a:p>
            <a:pPr lvl="1"/>
            <a:r>
              <a:rPr lang="en-US" sz="2200" dirty="0"/>
              <a:t>	</a:t>
            </a:r>
            <a:endParaRPr lang="en-US" sz="3200" b="1" dirty="0"/>
          </a:p>
          <a:p>
            <a:pPr marL="514350" indent="-514350">
              <a:buAutoNum type="arabicPeriod"/>
            </a:pPr>
            <a:r>
              <a:rPr lang="en-US" sz="3200" b="1" dirty="0"/>
              <a:t>Unmounting Phase: </a:t>
            </a:r>
          </a:p>
          <a:p>
            <a:pPr lvl="1"/>
            <a:r>
              <a:rPr lang="en-US" sz="2200" dirty="0"/>
              <a:t>	Component is removed from DOM</a:t>
            </a:r>
            <a:endParaRPr lang="en-US" sz="2200" b="1" dirty="0"/>
          </a:p>
          <a:p>
            <a:endParaRPr lang="en-US" sz="4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48107E-F36F-3892-7005-98789F36B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9257" y="3218487"/>
            <a:ext cx="1195897" cy="8176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90C2767-EAE9-4B76-FB60-DBB2490F3F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8046" y="2579254"/>
            <a:ext cx="1939473" cy="153052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E93DA91-2EF3-D525-50EB-EE4D33D99C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5022038"/>
            <a:ext cx="1758748" cy="13879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D27AD51-2856-C462-6A39-6C8E6F3C4F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7099" y="5013943"/>
            <a:ext cx="2054535" cy="1274836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9EA17B37-C1BB-67A0-6151-FEE90827EA84}"/>
              </a:ext>
            </a:extLst>
          </p:cNvPr>
          <p:cNvSpPr/>
          <p:nvPr/>
        </p:nvSpPr>
        <p:spPr>
          <a:xfrm>
            <a:off x="5385916" y="3429000"/>
            <a:ext cx="492370" cy="31903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72B30780-AEA7-3F6F-7CB3-7275E0929F9A}"/>
              </a:ext>
            </a:extLst>
          </p:cNvPr>
          <p:cNvSpPr/>
          <p:nvPr/>
        </p:nvSpPr>
        <p:spPr>
          <a:xfrm>
            <a:off x="8110695" y="5651361"/>
            <a:ext cx="492370" cy="31903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0261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4DFD4-37D4-59CE-5518-AF5DC918D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47CBA-DB3C-1CF6-E1E3-E7547C288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953" y="257138"/>
            <a:ext cx="6877119" cy="64008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VUE3 Hook Function :</a:t>
            </a:r>
            <a:r>
              <a:rPr lang="th-TH" b="1" dirty="0"/>
              <a:t> </a:t>
            </a:r>
            <a:r>
              <a:rPr lang="en-US" b="1" dirty="0" err="1"/>
              <a:t>Mounting&amp;Unmounting</a:t>
            </a:r>
            <a:endParaRPr lang="nl-NL" b="1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B6578FE-2A9A-54F9-2F7B-3A6B257AFC13}"/>
              </a:ext>
            </a:extLst>
          </p:cNvPr>
          <p:cNvSpPr txBox="1">
            <a:spLocks/>
          </p:cNvSpPr>
          <p:nvPr/>
        </p:nvSpPr>
        <p:spPr>
          <a:xfrm>
            <a:off x="202127" y="924447"/>
            <a:ext cx="11950117" cy="4138136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200" b="1" dirty="0"/>
          </a:p>
          <a:p>
            <a:pPr marL="514350" indent="-514350">
              <a:buAutoNum type="arabicPeriod"/>
            </a:pPr>
            <a:r>
              <a:rPr lang="en-US" sz="3200" b="1" dirty="0"/>
              <a:t>Mounting Phase: </a:t>
            </a:r>
          </a:p>
          <a:p>
            <a:pPr lvl="1"/>
            <a:r>
              <a:rPr lang="en-US" sz="2200" b="1" dirty="0"/>
              <a:t>	</a:t>
            </a:r>
          </a:p>
          <a:p>
            <a:pPr lvl="1"/>
            <a:endParaRPr lang="en-US" sz="2200" b="1" dirty="0"/>
          </a:p>
          <a:p>
            <a:pPr lvl="1"/>
            <a:endParaRPr lang="en-US" sz="2200" b="1" dirty="0"/>
          </a:p>
          <a:p>
            <a:pPr lvl="1"/>
            <a:endParaRPr lang="en-US" sz="2200" b="1" dirty="0"/>
          </a:p>
          <a:p>
            <a:pPr lvl="1"/>
            <a:endParaRPr lang="en-US" sz="2200" b="1" dirty="0"/>
          </a:p>
          <a:p>
            <a:pPr marL="514350" indent="-514350">
              <a:buAutoNum type="arabicPeriod"/>
            </a:pPr>
            <a:r>
              <a:rPr lang="en-US" sz="3200" b="1" dirty="0"/>
              <a:t>Unmounting Phase: </a:t>
            </a:r>
          </a:p>
          <a:p>
            <a:pPr lvl="1"/>
            <a:r>
              <a:rPr lang="en-US" sz="2200" b="1" dirty="0"/>
              <a:t>	Component is removed from DOM</a:t>
            </a:r>
          </a:p>
          <a:p>
            <a:endParaRPr lang="en-US" sz="40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EC115E-6A3C-7DDB-1E8F-F62DEC873B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4961" y="2306719"/>
            <a:ext cx="1517301" cy="103733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3383EBC-9F91-3511-E40E-299F81087B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321" y="1624659"/>
            <a:ext cx="2510136" cy="19808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D6F7E59-CC8C-36A7-F7CE-D1552200AB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6697" y="4646458"/>
            <a:ext cx="2038545" cy="160870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E47A867-2991-3E43-D014-ACA1A0CD1E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0710" y="4387079"/>
            <a:ext cx="2727684" cy="169252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630CBDD-823B-35C8-70B6-202825EDC844}"/>
              </a:ext>
            </a:extLst>
          </p:cNvPr>
          <p:cNvSpPr txBox="1"/>
          <p:nvPr/>
        </p:nvSpPr>
        <p:spPr>
          <a:xfrm>
            <a:off x="4863399" y="2010901"/>
            <a:ext cx="19507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2"/>
            <a:r>
              <a:rPr lang="en-US" dirty="0" err="1"/>
              <a:t>onBeforeMount</a:t>
            </a:r>
            <a:r>
              <a:rPr lang="en-US" dirty="0"/>
              <a:t>()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A13D0920-02C2-BD22-015A-ED5DCBA2EA93}"/>
              </a:ext>
            </a:extLst>
          </p:cNvPr>
          <p:cNvSpPr/>
          <p:nvPr/>
        </p:nvSpPr>
        <p:spPr>
          <a:xfrm>
            <a:off x="3523600" y="2606297"/>
            <a:ext cx="492370" cy="31903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5CA92F-0C62-9E8B-0A9D-43E3F58631D5}"/>
              </a:ext>
            </a:extLst>
          </p:cNvPr>
          <p:cNvSpPr txBox="1"/>
          <p:nvPr/>
        </p:nvSpPr>
        <p:spPr>
          <a:xfrm>
            <a:off x="10070983" y="2041046"/>
            <a:ext cx="15173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onMounted</a:t>
            </a:r>
            <a:r>
              <a:rPr lang="en-US" dirty="0"/>
              <a:t>()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E75C59E-A639-C5CC-B103-653AD2D326EB}"/>
              </a:ext>
            </a:extLst>
          </p:cNvPr>
          <p:cNvSpPr txBox="1"/>
          <p:nvPr/>
        </p:nvSpPr>
        <p:spPr>
          <a:xfrm>
            <a:off x="736021" y="4804342"/>
            <a:ext cx="24392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onBeforeUnmount</a:t>
            </a:r>
            <a:r>
              <a:rPr lang="en-US" dirty="0"/>
              <a:t>()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8A6017-141E-9063-9480-77E152F577AB}"/>
              </a:ext>
            </a:extLst>
          </p:cNvPr>
          <p:cNvSpPr txBox="1"/>
          <p:nvPr/>
        </p:nvSpPr>
        <p:spPr>
          <a:xfrm>
            <a:off x="5408528" y="4794292"/>
            <a:ext cx="19507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onUnmounted</a:t>
            </a:r>
            <a:r>
              <a:rPr lang="en-US" dirty="0"/>
              <a:t>();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CF6E4B3D-8F00-3938-1494-94767539B312}"/>
              </a:ext>
            </a:extLst>
          </p:cNvPr>
          <p:cNvSpPr/>
          <p:nvPr/>
        </p:nvSpPr>
        <p:spPr>
          <a:xfrm>
            <a:off x="7655159" y="5029626"/>
            <a:ext cx="492370" cy="31903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A444F4-0BB7-F5C7-585E-810FD1FF4DCB}"/>
              </a:ext>
            </a:extLst>
          </p:cNvPr>
          <p:cNvSpPr txBox="1"/>
          <p:nvPr/>
        </p:nvSpPr>
        <p:spPr>
          <a:xfrm>
            <a:off x="7536581" y="308009"/>
            <a:ext cx="2393925" cy="369332"/>
          </a:xfrm>
          <a:prstGeom prst="rect">
            <a:avLst/>
          </a:prstGeom>
          <a:solidFill>
            <a:schemeClr val="accent2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https://play.vuejs.org/</a:t>
            </a:r>
          </a:p>
        </p:txBody>
      </p:sp>
    </p:spTree>
    <p:extLst>
      <p:ext uri="{BB962C8B-B14F-4D97-AF65-F5344CB8AC3E}">
        <p14:creationId xmlns:p14="http://schemas.microsoft.com/office/powerpoint/2010/main" val="661304866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10001108_Win32 v2" id="{08D89365-2E4C-432D-9349-8DF9B80AEEA1}" vid="{010FF314-90DF-4A21-BD0D-ADCBA34234A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A3EE4EA-81C0-48D0-BEBD-A2EFD6B38B4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B2FC9C26-AD58-4393-99DE-F67958CF6A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563EE24-83AF-4B4D-B45B-11D1ECD4364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{0A4678A9-783C-4CAF-B8D9-4F496E21560C}TF2989475c-5427-4edb-9ec1-00f4ce72165b77c8433f_win32-c33c42577f73</Template>
  <TotalTime>14297</TotalTime>
  <Words>192</Words>
  <Application>Microsoft Office PowerPoint</Application>
  <PresentationFormat>Widescreen</PresentationFormat>
  <Paragraphs>50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Segoe UI</vt:lpstr>
      <vt:lpstr>Segoe UI Light</vt:lpstr>
      <vt:lpstr>Custom</vt:lpstr>
      <vt:lpstr> Virtual DOM &amp;DOM in VUE Lifecycle: Mounting&amp;Ummonting Phase</vt:lpstr>
      <vt:lpstr>HTML DOM (Document Object Model) </vt:lpstr>
      <vt:lpstr>แนวคิด COMPONENT ของ VUE : Virtual  DOM (VDOM) CONCEPT</vt:lpstr>
      <vt:lpstr>กระบวนการ render component ของ VUE</vt:lpstr>
      <vt:lpstr>VUE3 Hook Function : Mounting&amp;Unmounting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rapirak jirayu</dc:creator>
  <cp:keywords/>
  <cp:lastModifiedBy>rapirak jirayu</cp:lastModifiedBy>
  <cp:revision>112</cp:revision>
  <dcterms:created xsi:type="dcterms:W3CDTF">2026-02-24T13:07:23Z</dcterms:created>
  <dcterms:modified xsi:type="dcterms:W3CDTF">2026-05-11T16:16:58Z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