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5" r:id="rId3"/>
    <p:sldId id="266" r:id="rId4"/>
    <p:sldId id="268" r:id="rId5"/>
    <p:sldId id="26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76953" autoAdjust="0"/>
  </p:normalViewPr>
  <p:slideViewPr>
    <p:cSldViewPr snapToGrid="0">
      <p:cViewPr varScale="1">
        <p:scale>
          <a:sx n="80" d="100"/>
          <a:sy n="80" d="100"/>
        </p:scale>
        <p:origin x="171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50E792-7B21-4402-9244-F92D6EC1367D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36640-B669-4F47-AFB1-E61C814D0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34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https://onecompiler.com/html/44raz38qj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36640-B669-4F47-AFB1-E61C814D0CB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479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 html&gt;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&lt;title&gt;Binding Example&lt;/title&gt;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&lt;!-- Static Binding --&gt;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&lt;h2&gt;Static Binding&lt;/h2&gt;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&lt;div style="color: blue;"&gt;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    This text is always blue.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&lt;/div&gt;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="https://www.gstatic.com/webp/gallery3/2.png" alt="Cat" width="200"&gt;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&lt;!-- Dynamic Binding --&gt;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&lt;h2&gt;Dynamic Binding&lt;/h2&gt;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&lt;div id="message"&gt;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    Click the button to change my color.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&lt;/div&gt;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id="image" 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="https://www.gstatic.com/webp/gallery3/3.png" alt="Cat" width="200"&gt;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&lt;button onclick="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changeColor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()"&gt;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    Change Color &amp; Image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&lt;/button&gt;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&lt;script&gt;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    function 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changeColor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document.getElementById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('message').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style.color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= 'red';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document.getElementById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('image').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=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           "https://www.gstatic.com/webp/gallery3/4.png";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   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&lt;/script&gt;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36640-B669-4F47-AFB1-E61C814D0CB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089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&lt;!DOCTYPE html&gt;</a:t>
            </a:r>
          </a:p>
          <a:p>
            <a:r>
              <a:rPr lang="en-US" dirty="0"/>
              <a:t>&lt;html&gt;</a:t>
            </a:r>
          </a:p>
          <a:p>
            <a:r>
              <a:rPr lang="en-US" dirty="0"/>
              <a:t>&lt;head&gt;</a:t>
            </a:r>
          </a:p>
          <a:p>
            <a:r>
              <a:rPr lang="en-US" dirty="0"/>
              <a:t>    &lt;title&gt;Binding Example&lt;/title&gt;</a:t>
            </a:r>
          </a:p>
          <a:p>
            <a:r>
              <a:rPr lang="en-US" dirty="0"/>
              <a:t>&lt;/head&gt;</a:t>
            </a:r>
          </a:p>
          <a:p>
            <a:r>
              <a:rPr lang="en-US" dirty="0"/>
              <a:t>&lt;body&gt;</a:t>
            </a:r>
          </a:p>
          <a:p>
            <a:r>
              <a:rPr lang="en-US" dirty="0"/>
              <a:t>    &lt;!-- Static Binding --&gt;</a:t>
            </a:r>
          </a:p>
          <a:p>
            <a:r>
              <a:rPr lang="en-US" dirty="0"/>
              <a:t>    &lt;h2&gt;Static Binding&lt;/h2&gt;</a:t>
            </a:r>
          </a:p>
          <a:p>
            <a:r>
              <a:rPr lang="en-US" dirty="0"/>
              <a:t>    &lt;div style="color: blue;"&gt;</a:t>
            </a:r>
          </a:p>
          <a:p>
            <a:r>
              <a:rPr lang="en-US" dirty="0"/>
              <a:t>        This text is always blue.</a:t>
            </a:r>
          </a:p>
          <a:p>
            <a:r>
              <a:rPr lang="en-US" dirty="0"/>
              <a:t>    &lt;/div&gt;</a:t>
            </a:r>
          </a:p>
          <a:p>
            <a:r>
              <a:rPr lang="en-US" dirty="0"/>
              <a:t>    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="https://www.gstatic.com/webp/gallery3/2.png" alt="Cat" width="200"&gt;</a:t>
            </a:r>
          </a:p>
          <a:p>
            <a:r>
              <a:rPr lang="en-US" dirty="0"/>
              <a:t>    &lt;</a:t>
            </a:r>
            <a:r>
              <a:rPr lang="en-US" dirty="0" err="1"/>
              <a:t>hr</a:t>
            </a:r>
            <a:r>
              <a:rPr lang="en-US" dirty="0"/>
              <a:t>&gt;</a:t>
            </a:r>
          </a:p>
          <a:p>
            <a:endParaRPr lang="en-US" dirty="0"/>
          </a:p>
          <a:p>
            <a:r>
              <a:rPr lang="en-US" dirty="0"/>
              <a:t>    &lt;!-- Dynamic Binding --&gt;</a:t>
            </a:r>
          </a:p>
          <a:p>
            <a:r>
              <a:rPr lang="en-US" dirty="0"/>
              <a:t>    &lt;h2&gt;Dynamic Binding&lt;/h2&gt;</a:t>
            </a:r>
          </a:p>
          <a:p>
            <a:r>
              <a:rPr lang="en-US" dirty="0"/>
              <a:t>    &lt;div id="message"&gt;</a:t>
            </a:r>
          </a:p>
          <a:p>
            <a:r>
              <a:rPr lang="en-US" dirty="0"/>
              <a:t>        Click the button to change my color.</a:t>
            </a:r>
          </a:p>
          <a:p>
            <a:r>
              <a:rPr lang="en-US" dirty="0"/>
              <a:t>    &lt;/div&gt;</a:t>
            </a:r>
          </a:p>
          <a:p>
            <a:endParaRPr lang="en-US" dirty="0"/>
          </a:p>
          <a:p>
            <a:r>
              <a:rPr lang="en-US" dirty="0"/>
              <a:t>    &lt;</a:t>
            </a:r>
            <a:r>
              <a:rPr lang="en-US" dirty="0" err="1"/>
              <a:t>img</a:t>
            </a:r>
            <a:r>
              <a:rPr lang="en-US" dirty="0"/>
              <a:t> id="image" </a:t>
            </a:r>
            <a:r>
              <a:rPr lang="en-US" dirty="0" err="1"/>
              <a:t>src</a:t>
            </a:r>
            <a:r>
              <a:rPr lang="en-US" dirty="0"/>
              <a:t>="https://www.gstatic.com/webp/gallery3/3.png" alt="Cat" width="200"&gt;</a:t>
            </a:r>
          </a:p>
          <a:p>
            <a:endParaRPr lang="en-US" dirty="0"/>
          </a:p>
          <a:p>
            <a:r>
              <a:rPr lang="en-US" dirty="0"/>
              <a:t>    &lt;button onclick="</a:t>
            </a:r>
            <a:r>
              <a:rPr lang="en-US" dirty="0" err="1"/>
              <a:t>changeColor</a:t>
            </a:r>
            <a:r>
              <a:rPr lang="en-US" dirty="0"/>
              <a:t>()"&gt;</a:t>
            </a:r>
          </a:p>
          <a:p>
            <a:r>
              <a:rPr lang="en-US" dirty="0"/>
              <a:t>        Change Color &amp; Image</a:t>
            </a:r>
          </a:p>
          <a:p>
            <a:r>
              <a:rPr lang="en-US" dirty="0"/>
              <a:t>    &lt;/button&gt;</a:t>
            </a:r>
          </a:p>
          <a:p>
            <a:endParaRPr lang="en-US" dirty="0"/>
          </a:p>
          <a:p>
            <a:r>
              <a:rPr lang="en-US" dirty="0"/>
              <a:t>    &lt;script&gt;</a:t>
            </a:r>
          </a:p>
          <a:p>
            <a:r>
              <a:rPr lang="en-US" dirty="0"/>
              <a:t>        function </a:t>
            </a:r>
            <a:r>
              <a:rPr lang="en-US" dirty="0" err="1"/>
              <a:t>changeColor</a:t>
            </a:r>
            <a:r>
              <a:rPr lang="en-US" dirty="0"/>
              <a:t>() {</a:t>
            </a:r>
          </a:p>
          <a:p>
            <a:r>
              <a:rPr lang="en-US" dirty="0"/>
              <a:t>            </a:t>
            </a:r>
            <a:r>
              <a:rPr lang="en-US" dirty="0" err="1"/>
              <a:t>document.getElementById</a:t>
            </a:r>
            <a:r>
              <a:rPr lang="en-US" dirty="0"/>
              <a:t>('message').</a:t>
            </a:r>
            <a:r>
              <a:rPr lang="en-US" dirty="0" err="1"/>
              <a:t>style.color</a:t>
            </a:r>
            <a:r>
              <a:rPr lang="en-US" dirty="0"/>
              <a:t> = 'red';</a:t>
            </a:r>
          </a:p>
          <a:p>
            <a:r>
              <a:rPr lang="en-US" dirty="0"/>
              <a:t>            </a:t>
            </a:r>
            <a:r>
              <a:rPr lang="en-US" dirty="0" err="1"/>
              <a:t>document.getElementById</a:t>
            </a:r>
            <a:r>
              <a:rPr lang="en-US" dirty="0"/>
              <a:t>('image').</a:t>
            </a:r>
            <a:r>
              <a:rPr lang="en-US" dirty="0" err="1"/>
              <a:t>src</a:t>
            </a:r>
            <a:r>
              <a:rPr lang="en-US" dirty="0"/>
              <a:t>=</a:t>
            </a:r>
          </a:p>
          <a:p>
            <a:r>
              <a:rPr lang="en-US" dirty="0"/>
              <a:t>               "https://www.gstatic.com/webp/gallery3/4.png";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&lt;/script&gt;</a:t>
            </a:r>
          </a:p>
          <a:p>
            <a:endParaRPr lang="en-US" dirty="0"/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36640-B669-4F47-AFB1-E61C814D0CB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38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49449-3080-9DF0-BBDC-2FCCE41CE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89C28B-D964-A075-0560-5E5F0F55A8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DA746D-1B42-9F93-B88F-8532A434D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&lt;script setup&gt;</a:t>
            </a:r>
          </a:p>
          <a:p>
            <a:r>
              <a:rPr lang="en-US" dirty="0"/>
              <a:t>import { ref } from '</a:t>
            </a:r>
            <a:r>
              <a:rPr lang="en-US" dirty="0" err="1"/>
              <a:t>vue</a:t>
            </a:r>
            <a:r>
              <a:rPr lang="en-US" dirty="0"/>
              <a:t>'</a:t>
            </a:r>
          </a:p>
          <a:p>
            <a:endParaRPr lang="en-US" dirty="0"/>
          </a:p>
          <a:p>
            <a:r>
              <a:rPr lang="en-US" dirty="0"/>
              <a:t>const color = ref('black')</a:t>
            </a:r>
          </a:p>
          <a:p>
            <a:endParaRPr lang="en-US" dirty="0"/>
          </a:p>
          <a:p>
            <a:r>
              <a:rPr lang="en-US" dirty="0"/>
              <a:t>function </a:t>
            </a:r>
            <a:r>
              <a:rPr lang="en-US" dirty="0" err="1"/>
              <a:t>changeColor</a:t>
            </a:r>
            <a:r>
              <a:rPr lang="en-US" dirty="0"/>
              <a:t>() {</a:t>
            </a:r>
          </a:p>
          <a:p>
            <a:r>
              <a:rPr lang="en-US" dirty="0"/>
              <a:t>  </a:t>
            </a:r>
            <a:r>
              <a:rPr lang="en-US" dirty="0" err="1"/>
              <a:t>color.value</a:t>
            </a:r>
            <a:r>
              <a:rPr lang="en-US" dirty="0"/>
              <a:t> = 'red'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&lt;/script&gt;</a:t>
            </a:r>
          </a:p>
          <a:p>
            <a:endParaRPr lang="en-US" dirty="0"/>
          </a:p>
          <a:p>
            <a:r>
              <a:rPr lang="en-US" dirty="0"/>
              <a:t>&lt;template&gt;</a:t>
            </a:r>
          </a:p>
          <a:p>
            <a:endParaRPr lang="en-US" dirty="0"/>
          </a:p>
          <a:p>
            <a:r>
              <a:rPr lang="en-US" dirty="0"/>
              <a:t>  &lt;div </a:t>
            </a:r>
            <a:r>
              <a:rPr lang="en-US" dirty="0" err="1"/>
              <a:t>v-bind:style</a:t>
            </a:r>
            <a:r>
              <a:rPr lang="en-US" dirty="0"/>
              <a:t>="{ color: color }"&gt;</a:t>
            </a:r>
          </a:p>
          <a:p>
            <a:r>
              <a:rPr lang="en-US" dirty="0"/>
              <a:t>    Click the button to change my color.</a:t>
            </a:r>
          </a:p>
          <a:p>
            <a:r>
              <a:rPr lang="en-US" dirty="0"/>
              <a:t>  &lt;/div&gt;</a:t>
            </a:r>
          </a:p>
          <a:p>
            <a:endParaRPr lang="en-US" dirty="0"/>
          </a:p>
          <a:p>
            <a:r>
              <a:rPr lang="en-US" dirty="0"/>
              <a:t>  &lt;button @click="changeColor"&gt;</a:t>
            </a:r>
          </a:p>
          <a:p>
            <a:r>
              <a:rPr lang="en-US" dirty="0"/>
              <a:t>    Change Color</a:t>
            </a:r>
          </a:p>
          <a:p>
            <a:r>
              <a:rPr lang="en-US" dirty="0"/>
              <a:t>  &lt;/button&gt;</a:t>
            </a:r>
          </a:p>
          <a:p>
            <a:endParaRPr lang="en-US" dirty="0"/>
          </a:p>
          <a:p>
            <a:r>
              <a:rPr lang="en-US" dirty="0"/>
              <a:t>&lt;/template&gt;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62008-1753-46AF-334C-01971D8FF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36640-B669-4F47-AFB1-E61C814D0CB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017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11D56-CC25-FEE1-49D5-DD9452188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D556B3-B10C-595E-E08D-F82D42600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491F9-405A-723E-0266-E030640C1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E2626-68CC-2AA8-EBFB-BA518909A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6C317-1F4C-5AE9-207E-7ACA4BE61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07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72636-37AC-6F05-B58E-5C9FE6CCC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D8AA5-0ACF-AB3D-7F12-38985AB83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0CAD7-53B5-65D8-533B-C3031BA0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DCBBF-8989-4544-FB71-99FB53C93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DFC58-F701-1F7A-DEA9-65D0AA4E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18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44228-C99D-E58D-E637-ACF3C211C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3E8B0-9905-8502-EC55-674146940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48501-B36F-F262-69BC-4117865DC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A898E-86B0-B713-A207-F539473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30980-729A-BAE4-24A7-97655CD16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250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AC8A-C6BE-CE34-2FFB-3E75AD866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6D7F0-0A1D-1531-2E78-43F363A77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BE69C-72C4-4611-44F1-CECDF3BD2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CE6E49-2774-4993-2E72-F92B7B32A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845C7-DE9C-BEE9-6F41-DB97BD6D3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1C74E-6A8C-854C-28F1-E04100239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91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63A1A-32B1-34F8-470F-C231E8199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0FC17-8F57-AE61-2CF1-7C10442AF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8A560-A84F-813F-92F0-DE088C042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A35438-14DD-6007-6D43-58A5C28593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5E2760-0C05-6491-17C1-335EBFDEF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79DF92-D1CE-6DC8-2D91-FEEB0F50D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81EE77-0935-3326-2BCD-69979D738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92D776-5D43-7CCD-374D-7A33E04E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3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C3B7E-FE82-645D-E36B-CAA3F1C34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DE9FB9-BBB0-9B45-D935-0EA86BBDC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961958-E809-14C4-761B-DE0DDA004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33B411-C639-FECB-7375-B389247AE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6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64886-E517-CD43-695B-7D3C34B9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FB4BE3-F806-6B11-5866-A05DA26AA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3C38B-596C-3330-FFF6-5A6347F17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615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873E7-EBF8-5B33-E1EC-9776686DB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6270E-AB95-CE55-ED7C-BF7F971CC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0CDC1-3A86-48E8-AF59-700A70C5B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0C7993-C21A-3661-4263-612D122E9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9D8F0-2051-3427-320A-9F5E87772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AF1DF-677F-83B1-9EC1-A1E91624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25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9C92A-E097-F04E-9C89-E634FF769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930BA9-8165-70EB-9D36-35343ED4BC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17C07-906C-637D-2F8E-B757B8060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E4C64-BC87-DA29-DA35-3C36B180A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96F2A-C4A0-9E59-23BB-539CEBE0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F5C25-BF05-5D60-BBF5-62F8EC307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89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1CB83-0070-8374-4BD2-FD8EA25A6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FF5228-D69D-C02C-8A90-B4D54FBB4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2D53A-F3B1-E190-1D41-F8C7982C1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67E1D-3415-395E-FFF5-3063B4E69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433BC-5098-2178-C191-C5FEB6253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088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39B349-8CC6-5F8D-2FDE-FF6B0EE465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CF31D-74E5-4915-6CAC-CAF3BE9B9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71AA5-29B8-FBFF-4AA0-61D3E3321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11716-D5C0-77AE-41E3-CC7210C4E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843F9-0DE3-3DA1-CC93-E256E449B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30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7B0666-E4BC-20BE-AB68-4EE5494B4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7D7A5-6DA8-564B-1205-E20DE679F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DABB9-65D9-3C8C-2145-7C12AEB22E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BAA1D-CD6B-4A02-B270-D7E8779137E9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27669-D06E-5580-29CC-67A7A5B06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02EE8-6719-73D9-7479-84136D490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79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B928A-F245-4464-F9E4-8F8E71F3D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830497" y="1958574"/>
            <a:ext cx="15695525" cy="923330"/>
          </a:xfrm>
        </p:spPr>
        <p:txBody>
          <a:bodyPr>
            <a:noAutofit/>
          </a:bodyPr>
          <a:lstStyle/>
          <a:p>
            <a:br>
              <a:rPr lang="th-TH" sz="4400" b="1" dirty="0"/>
            </a:br>
            <a:r>
              <a:rPr lang="en-US" sz="4400" b="1" dirty="0">
                <a:solidFill>
                  <a:schemeClr val="accent1"/>
                </a:solidFill>
              </a:rPr>
              <a:t>(</a:t>
            </a:r>
            <a:r>
              <a:rPr lang="th-TH" sz="4400" b="1" dirty="0">
                <a:solidFill>
                  <a:schemeClr val="accent1"/>
                </a:solidFill>
              </a:rPr>
              <a:t>ตอน</a:t>
            </a:r>
            <a:r>
              <a:rPr lang="en-US" sz="4400" b="1" dirty="0">
                <a:solidFill>
                  <a:schemeClr val="accent1"/>
                </a:solidFill>
              </a:rPr>
              <a:t>:</a:t>
            </a:r>
            <a:r>
              <a:rPr lang="th-TH" sz="4400" b="1" dirty="0">
                <a:solidFill>
                  <a:schemeClr val="accent1"/>
                </a:solidFill>
              </a:rPr>
              <a:t>แนวคิดของ</a:t>
            </a:r>
            <a:r>
              <a:rPr lang="en-US" sz="4400" b="1" dirty="0">
                <a:solidFill>
                  <a:schemeClr val="accent1"/>
                </a:solidFill>
              </a:rPr>
              <a:t> dynamic binding </a:t>
            </a:r>
            <a:r>
              <a:rPr lang="th-TH" sz="4400" b="1" dirty="0">
                <a:solidFill>
                  <a:schemeClr val="accent1"/>
                </a:solidFill>
              </a:rPr>
              <a:t>ใน</a:t>
            </a:r>
            <a:r>
              <a:rPr lang="en-US" sz="4400" b="1" dirty="0">
                <a:solidFill>
                  <a:schemeClr val="accent1"/>
                </a:solidFill>
              </a:rPr>
              <a:t> Vue)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C0A84F-6D86-5281-5C04-FA6258D0CF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2073" y="3390990"/>
            <a:ext cx="8801100" cy="1655762"/>
          </a:xfrm>
        </p:spPr>
        <p:txBody>
          <a:bodyPr>
            <a:normAutofit/>
          </a:bodyPr>
          <a:lstStyle/>
          <a:p>
            <a:pPr algn="l"/>
            <a:r>
              <a:rPr lang="th-TH" sz="4000" b="1" dirty="0">
                <a:solidFill>
                  <a:srgbClr val="FF0000"/>
                </a:solidFill>
              </a:rPr>
              <a:t>สามารถฝึกปฏิบัติแบบออนไลน์จาก </a:t>
            </a:r>
            <a:r>
              <a:rPr lang="en-US" sz="4000" b="1" dirty="0">
                <a:solidFill>
                  <a:srgbClr val="FF0000"/>
                </a:solidFill>
              </a:rPr>
              <a:t>source code </a:t>
            </a:r>
          </a:p>
          <a:p>
            <a:pPr algn="l"/>
            <a:r>
              <a:rPr lang="th-TH" sz="4000" b="1" dirty="0">
                <a:solidFill>
                  <a:srgbClr val="FF0000"/>
                </a:solidFill>
              </a:rPr>
              <a:t>ผ่านลิงก์</a:t>
            </a:r>
            <a:r>
              <a:rPr lang="en-US" sz="4000" b="1" dirty="0">
                <a:solidFill>
                  <a:srgbClr val="FF0000"/>
                </a:solidFill>
              </a:rPr>
              <a:t>(link)</a:t>
            </a:r>
            <a:r>
              <a:rPr lang="th-TH" sz="4000" b="1" dirty="0">
                <a:solidFill>
                  <a:srgbClr val="FF0000"/>
                </a:solidFill>
              </a:rPr>
              <a:t> ในคำอธิบายใต้คลิป </a:t>
            </a:r>
            <a:r>
              <a:rPr lang="en-US" sz="4000" b="1" dirty="0">
                <a:solidFill>
                  <a:srgbClr val="FF0000"/>
                </a:solidFill>
              </a:rPr>
              <a:t>YouTube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E2211-34DE-ABB9-BBE3-5452EB372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48" y="5200649"/>
            <a:ext cx="2333704" cy="9334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5BB053-51FD-D8FA-C3AE-1DAA04ECACE2}"/>
              </a:ext>
            </a:extLst>
          </p:cNvPr>
          <p:cNvSpPr txBox="1"/>
          <p:nvPr/>
        </p:nvSpPr>
        <p:spPr>
          <a:xfrm>
            <a:off x="659224" y="710684"/>
            <a:ext cx="114249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 err="1"/>
              <a:t>vbind</a:t>
            </a:r>
            <a:r>
              <a:rPr lang="en-US" sz="5400" dirty="0"/>
              <a:t>-dynamic binding </a:t>
            </a:r>
          </a:p>
        </p:txBody>
      </p:sp>
    </p:spTree>
    <p:extLst>
      <p:ext uri="{BB962C8B-B14F-4D97-AF65-F5344CB8AC3E}">
        <p14:creationId xmlns:p14="http://schemas.microsoft.com/office/powerpoint/2010/main" val="1289560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2CA09-A607-7508-1543-7FEEA5792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3085"/>
            <a:ext cx="10515600" cy="906627"/>
          </a:xfrm>
        </p:spPr>
        <p:txBody>
          <a:bodyPr/>
          <a:lstStyle/>
          <a:p>
            <a:r>
              <a:rPr lang="en-US" dirty="0"/>
              <a:t>Html Binding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5E9D4-365F-6F1C-294B-0FD6DB139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463" y="2017988"/>
            <a:ext cx="10515600" cy="4001923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Static Binding </a:t>
            </a:r>
            <a:r>
              <a:rPr lang="en-US" dirty="0"/>
              <a:t>: </a:t>
            </a:r>
            <a:r>
              <a:rPr lang="en-US" dirty="0" err="1"/>
              <a:t>การกำหนดค่าให้</a:t>
            </a:r>
            <a:r>
              <a:rPr lang="en-US" dirty="0"/>
              <a:t> attribute </a:t>
            </a:r>
            <a:r>
              <a:rPr lang="en-US" dirty="0" err="1"/>
              <a:t>ของ</a:t>
            </a:r>
            <a:r>
              <a:rPr lang="en-US" dirty="0"/>
              <a:t> HTML </a:t>
            </a:r>
            <a:r>
              <a:rPr lang="en-US" dirty="0" err="1"/>
              <a:t>ตั้งแต่เขียน</a:t>
            </a:r>
            <a:r>
              <a:rPr lang="en-US" dirty="0"/>
              <a:t> HTML </a:t>
            </a:r>
            <a:r>
              <a:rPr lang="en-US" dirty="0" err="1"/>
              <a:t>ไว้เลย</a:t>
            </a:r>
            <a:endParaRPr lang="en-US" dirty="0"/>
          </a:p>
          <a:p>
            <a:pPr marL="457200" lvl="1" indent="0">
              <a:buNone/>
            </a:pPr>
            <a:endParaRPr lang="en-US" sz="2600" dirty="0"/>
          </a:p>
          <a:p>
            <a:pPr marL="457200" lvl="1" indent="0">
              <a:buNone/>
            </a:pPr>
            <a:r>
              <a:rPr lang="en-US" sz="2600" dirty="0"/>
              <a:t>&lt;</a:t>
            </a:r>
            <a:r>
              <a:rPr lang="en-US" sz="2600" dirty="0" err="1"/>
              <a:t>img</a:t>
            </a:r>
            <a:r>
              <a:rPr lang="en-US" sz="2600" dirty="0"/>
              <a:t> </a:t>
            </a:r>
            <a:r>
              <a:rPr lang="en-US" sz="2600" dirty="0" err="1">
                <a:solidFill>
                  <a:srgbClr val="00B050"/>
                </a:solidFill>
              </a:rPr>
              <a:t>src</a:t>
            </a:r>
            <a:r>
              <a:rPr lang="en-US" sz="2600" dirty="0"/>
              <a:t>="cat.jpg" alt="My Cat"&gt;</a:t>
            </a:r>
          </a:p>
          <a:p>
            <a:pPr marL="0" indent="0">
              <a:buNone/>
            </a:pPr>
            <a:r>
              <a:rPr lang="en-US" sz="2600" dirty="0"/>
              <a:t>   </a:t>
            </a:r>
          </a:p>
          <a:p>
            <a:pPr marL="0" indent="0">
              <a:buNone/>
            </a:pPr>
            <a:r>
              <a:rPr lang="en-US" sz="2600" dirty="0"/>
              <a:t>      &lt;div  </a:t>
            </a:r>
            <a:r>
              <a:rPr lang="en-US" sz="2600" dirty="0">
                <a:solidFill>
                  <a:srgbClr val="FF0000"/>
                </a:solidFill>
              </a:rPr>
              <a:t>style</a:t>
            </a:r>
            <a:r>
              <a:rPr lang="en-US" sz="2600" dirty="0"/>
              <a:t>="</a:t>
            </a:r>
            <a:r>
              <a:rPr lang="en-US" sz="2600" dirty="0">
                <a:solidFill>
                  <a:srgbClr val="00B050"/>
                </a:solidFill>
              </a:rPr>
              <a:t>color</a:t>
            </a:r>
            <a:r>
              <a:rPr lang="en-US" sz="2600" dirty="0"/>
              <a:t>: red; </a:t>
            </a:r>
            <a:r>
              <a:rPr lang="en-US" sz="2600" dirty="0">
                <a:solidFill>
                  <a:srgbClr val="00B050"/>
                </a:solidFill>
              </a:rPr>
              <a:t>font-size</a:t>
            </a:r>
            <a:r>
              <a:rPr lang="en-US" sz="2600" dirty="0"/>
              <a:t>: 20px;"&gt;</a:t>
            </a:r>
            <a:br>
              <a:rPr lang="en-US" sz="2600" dirty="0"/>
            </a:br>
            <a:r>
              <a:rPr lang="en-US" sz="2600" dirty="0"/>
              <a:t>          Hello</a:t>
            </a:r>
            <a:br>
              <a:rPr lang="en-US" sz="2600" dirty="0"/>
            </a:br>
            <a:r>
              <a:rPr lang="en-US" sz="2600" dirty="0"/>
              <a:t>      &lt;/div&gt;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Dynamic Binding : running time</a:t>
            </a:r>
            <a:r>
              <a:rPr lang="th-TH" dirty="0">
                <a:solidFill>
                  <a:srgbClr val="FF0000"/>
                </a:solidFill>
              </a:rPr>
              <a:t> ใช้</a:t>
            </a:r>
            <a:r>
              <a:rPr lang="en-US" dirty="0">
                <a:solidFill>
                  <a:srgbClr val="FF0000"/>
                </a:solidFill>
              </a:rPr>
              <a:t> java script control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52613-17F4-794E-9D14-961B7178D865}"/>
              </a:ext>
            </a:extLst>
          </p:cNvPr>
          <p:cNvSpPr txBox="1"/>
          <p:nvPr/>
        </p:nvSpPr>
        <p:spPr>
          <a:xfrm>
            <a:off x="819809" y="1303282"/>
            <a:ext cx="107415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การกำหนดค่าให้</a:t>
            </a:r>
            <a:r>
              <a:rPr lang="en-US" sz="2000" dirty="0"/>
              <a:t> attribute/property </a:t>
            </a:r>
            <a:r>
              <a:rPr lang="th-TH" sz="2000" dirty="0"/>
              <a:t>ให้กับ</a:t>
            </a:r>
            <a:r>
              <a:rPr lang="en-US" sz="2000" dirty="0"/>
              <a:t> html tag</a:t>
            </a:r>
            <a:r>
              <a:rPr lang="th-TH" sz="2000" dirty="0"/>
              <a:t> หรือ </a:t>
            </a:r>
            <a:r>
              <a:rPr lang="en-US" sz="2000" dirty="0"/>
              <a:t>style (CSS)</a:t>
            </a:r>
          </a:p>
        </p:txBody>
      </p:sp>
    </p:spTree>
    <p:extLst>
      <p:ext uri="{BB962C8B-B14F-4D97-AF65-F5344CB8AC3E}">
        <p14:creationId xmlns:p14="http://schemas.microsoft.com/office/powerpoint/2010/main" val="3531614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15E2D14-06FC-7001-D52B-0F96AE20628F}"/>
              </a:ext>
            </a:extLst>
          </p:cNvPr>
          <p:cNvSpPr txBox="1"/>
          <p:nvPr/>
        </p:nvSpPr>
        <p:spPr>
          <a:xfrm>
            <a:off x="201137" y="4639"/>
            <a:ext cx="12065865" cy="6929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&lt;title&gt;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Binding Example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&lt;/title&gt;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&lt;!-- Static Binding --&gt;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Static Binding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th-TH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"color: blue;"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This text is always blue.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"https://www.gstatic.com/webp/gallery3/2.png"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"Cat"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"200"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&lt;!-- Dynamic Binding --&gt;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Dynamic Binding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"message"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Click the button to change my color.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changeColor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Change Color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'message'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'red'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A2BCBD-E0BD-4E8B-AC57-004299AFC01A}"/>
              </a:ext>
            </a:extLst>
          </p:cNvPr>
          <p:cNvSpPr txBox="1"/>
          <p:nvPr/>
        </p:nvSpPr>
        <p:spPr>
          <a:xfrm>
            <a:off x="5406191" y="83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https://onecompiler.com/html/44raz38qj</a:t>
            </a:r>
            <a:endParaRPr lang="en-US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99390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595FE-2F50-9C1B-EAA2-76CA78F7C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ABA9B-B5F8-E958-AFE9-B559160F6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745" y="341061"/>
            <a:ext cx="11734801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v-bind</a:t>
            </a:r>
            <a:r>
              <a:rPr lang="en-US" dirty="0">
                <a:solidFill>
                  <a:srgbClr val="FF0000"/>
                </a:solidFill>
              </a:rPr>
              <a:t> : </a:t>
            </a:r>
            <a:r>
              <a:rPr lang="th-TH" dirty="0">
                <a:solidFill>
                  <a:srgbClr val="FF0000"/>
                </a:solidFill>
              </a:rPr>
              <a:t>เป็น </a:t>
            </a:r>
            <a:r>
              <a:rPr lang="en-US" dirty="0">
                <a:solidFill>
                  <a:srgbClr val="FF0000"/>
                </a:solidFill>
              </a:rPr>
              <a:t>directive </a:t>
            </a:r>
            <a:r>
              <a:rPr lang="th-TH" dirty="0">
                <a:solidFill>
                  <a:srgbClr val="FF0000"/>
                </a:solidFill>
              </a:rPr>
              <a:t>ที่ช่วยให้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vue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th-TH" dirty="0">
                <a:solidFill>
                  <a:srgbClr val="FF0000"/>
                </a:solidFill>
              </a:rPr>
              <a:t>สามารถกำหนดคุณสมบัติของ</a:t>
            </a:r>
            <a:r>
              <a:rPr lang="en-US" dirty="0">
                <a:solidFill>
                  <a:srgbClr val="FF0000"/>
                </a:solidFill>
              </a:rPr>
              <a:t>attribute </a:t>
            </a:r>
            <a:r>
              <a:rPr lang="th-TH" dirty="0">
                <a:solidFill>
                  <a:srgbClr val="FF0000"/>
                </a:solidFill>
              </a:rPr>
              <a:t>ใน </a:t>
            </a:r>
            <a:r>
              <a:rPr lang="en-US" dirty="0">
                <a:solidFill>
                  <a:srgbClr val="FF0000"/>
                </a:solidFill>
              </a:rPr>
              <a:t>tag</a:t>
            </a:r>
            <a:r>
              <a:rPr lang="th-TH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/style </a:t>
            </a:r>
            <a:r>
              <a:rPr lang="th-TH" dirty="0">
                <a:solidFill>
                  <a:srgbClr val="FF0000"/>
                </a:solidFill>
              </a:rPr>
              <a:t>และ </a:t>
            </a:r>
            <a:r>
              <a:rPr lang="en-US" dirty="0">
                <a:solidFill>
                  <a:srgbClr val="FF0000"/>
                </a:solidFill>
              </a:rPr>
              <a:t>Child component</a:t>
            </a:r>
            <a:r>
              <a:rPr lang="th-TH" dirty="0">
                <a:solidFill>
                  <a:srgbClr val="FF0000"/>
                </a:solidFill>
              </a:rPr>
              <a:t> ขณะ</a:t>
            </a:r>
            <a:r>
              <a:rPr lang="en-US" dirty="0">
                <a:solidFill>
                  <a:srgbClr val="FF0000"/>
                </a:solidFill>
              </a:rPr>
              <a:t> runtime (dynamic binding mechanism)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E175A-9D90-BD93-9D26-6CEF96453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0713F0-8A7B-2865-74B8-9A40F8B077FE}"/>
              </a:ext>
            </a:extLst>
          </p:cNvPr>
          <p:cNvSpPr txBox="1"/>
          <p:nvPr/>
        </p:nvSpPr>
        <p:spPr>
          <a:xfrm>
            <a:off x="663878" y="2031409"/>
            <a:ext cx="850517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&lt;script setup&gt;</a:t>
            </a:r>
          </a:p>
          <a:p>
            <a:endParaRPr lang="th-TH" sz="2400" dirty="0"/>
          </a:p>
          <a:p>
            <a:r>
              <a:rPr lang="en-US" sz="2400" dirty="0"/>
              <a:t>import { ref } from '</a:t>
            </a:r>
            <a:r>
              <a:rPr lang="en-US" sz="2400" dirty="0" err="1"/>
              <a:t>vue</a:t>
            </a:r>
            <a:r>
              <a:rPr lang="en-US" sz="2400" dirty="0"/>
              <a:t>'</a:t>
            </a:r>
          </a:p>
          <a:p>
            <a:r>
              <a:rPr lang="en-US" sz="2400" dirty="0"/>
              <a:t>const </a:t>
            </a:r>
            <a:r>
              <a:rPr lang="en-US" sz="2400" dirty="0" err="1"/>
              <a:t>url</a:t>
            </a:r>
            <a:r>
              <a:rPr lang="en-US" sz="2400" dirty="0"/>
              <a:t> = ref('https://www.gstatic.com/webp/gallery3/2.png’)</a:t>
            </a:r>
          </a:p>
          <a:p>
            <a:endParaRPr lang="th-TH" sz="2400" dirty="0"/>
          </a:p>
          <a:p>
            <a:r>
              <a:rPr lang="en-US" sz="2400" dirty="0"/>
              <a:t>&lt;/script&gt;</a:t>
            </a:r>
          </a:p>
          <a:p>
            <a:endParaRPr lang="en-US" sz="2400" dirty="0"/>
          </a:p>
          <a:p>
            <a:r>
              <a:rPr lang="en-US" sz="2400" dirty="0"/>
              <a:t>&lt;template&gt;</a:t>
            </a:r>
          </a:p>
          <a:p>
            <a:r>
              <a:rPr lang="en-US" sz="2400" dirty="0"/>
              <a:t>   &lt;a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v-bind:</a:t>
            </a:r>
            <a:r>
              <a:rPr lang="en-US" sz="2400" dirty="0" err="1"/>
              <a:t>href</a:t>
            </a:r>
            <a:r>
              <a:rPr lang="en-US" sz="2400" dirty="0"/>
              <a:t>="</a:t>
            </a:r>
            <a:r>
              <a:rPr lang="en-US" sz="2400" dirty="0" err="1"/>
              <a:t>url</a:t>
            </a:r>
            <a:r>
              <a:rPr lang="en-US" sz="2400" dirty="0"/>
              <a:t>"&gt; dynamic  &lt;/a&gt;</a:t>
            </a:r>
          </a:p>
          <a:p>
            <a:r>
              <a:rPr lang="en-US" sz="2400" dirty="0"/>
              <a:t>   &lt;a            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US" sz="2400" dirty="0" err="1"/>
              <a:t>href</a:t>
            </a:r>
            <a:r>
              <a:rPr lang="en-US" sz="2400" dirty="0"/>
              <a:t>="</a:t>
            </a:r>
            <a:r>
              <a:rPr lang="en-US" sz="2400" dirty="0" err="1"/>
              <a:t>url</a:t>
            </a:r>
            <a:r>
              <a:rPr lang="en-US" sz="2400" dirty="0"/>
              <a:t>"&gt; dynamic  &lt;/a&gt;</a:t>
            </a:r>
          </a:p>
          <a:p>
            <a:r>
              <a:rPr lang="en-US" sz="2400" dirty="0"/>
              <a:t>&lt;/template&gt;</a:t>
            </a:r>
          </a:p>
        </p:txBody>
      </p:sp>
    </p:spTree>
    <p:extLst>
      <p:ext uri="{BB962C8B-B14F-4D97-AF65-F5344CB8AC3E}">
        <p14:creationId xmlns:p14="http://schemas.microsoft.com/office/powerpoint/2010/main" val="2099305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FF800-1B9B-AB0C-11C3-DF3B6CC66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401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v-bind (:)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66492-BE51-1C6F-E12B-41911CC38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332" y="188825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Html Attribute</a:t>
            </a:r>
          </a:p>
          <a:p>
            <a:pPr marL="0" indent="0">
              <a:buNone/>
            </a:pPr>
            <a:r>
              <a:rPr lang="en-US" dirty="0"/>
              <a:t>	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:</a:t>
            </a:r>
            <a:r>
              <a:rPr lang="en-US" b="1" dirty="0" err="1">
                <a:solidFill>
                  <a:srgbClr val="FF0000"/>
                </a:solidFill>
              </a:rPr>
              <a:t>src</a:t>
            </a:r>
            <a:r>
              <a:rPr lang="en-US" dirty="0"/>
              <a:t>="</a:t>
            </a:r>
            <a:r>
              <a:rPr lang="en-US" b="1" dirty="0" err="1">
                <a:solidFill>
                  <a:srgbClr val="00B050"/>
                </a:solidFill>
              </a:rPr>
              <a:t>imageUrl</a:t>
            </a:r>
            <a:r>
              <a:rPr lang="en-US" dirty="0"/>
              <a:t>" width="100px"&gt;</a:t>
            </a:r>
          </a:p>
          <a:p>
            <a:r>
              <a:rPr lang="en-US" dirty="0"/>
              <a:t>Style</a:t>
            </a:r>
          </a:p>
          <a:p>
            <a:pPr marL="457200" lvl="1" indent="0">
              <a:buNone/>
            </a:pPr>
            <a:r>
              <a:rPr lang="en-US" dirty="0"/>
              <a:t>	 &lt;div  </a:t>
            </a:r>
            <a:r>
              <a:rPr lang="en-US" b="1" dirty="0">
                <a:solidFill>
                  <a:srgbClr val="FF0000"/>
                </a:solidFill>
              </a:rPr>
              <a:t>:style</a:t>
            </a:r>
            <a:r>
              <a:rPr lang="en-US" dirty="0"/>
              <a:t>="{ color: </a:t>
            </a:r>
            <a:r>
              <a:rPr lang="en-US" b="1" dirty="0" err="1">
                <a:solidFill>
                  <a:srgbClr val="00B050"/>
                </a:solidFill>
              </a:rPr>
              <a:t>textColor</a:t>
            </a:r>
            <a:r>
              <a:rPr lang="en-US" dirty="0"/>
              <a:t>, </a:t>
            </a:r>
            <a:r>
              <a:rPr lang="en-US" dirty="0" err="1"/>
              <a:t>fontSize</a:t>
            </a:r>
            <a:r>
              <a:rPr lang="en-US" dirty="0"/>
              <a:t>: </a:t>
            </a:r>
            <a:r>
              <a:rPr lang="en-US" b="1" dirty="0" err="1">
                <a:solidFill>
                  <a:srgbClr val="00B050"/>
                </a:solidFill>
              </a:rPr>
              <a:t>fontSize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dirty="0"/>
              <a:t>}"&gt;</a:t>
            </a:r>
          </a:p>
          <a:p>
            <a:r>
              <a:rPr lang="en-US" dirty="0"/>
              <a:t>Class</a:t>
            </a:r>
          </a:p>
          <a:p>
            <a:pPr marL="457200" lvl="1" indent="0">
              <a:buNone/>
            </a:pPr>
            <a:r>
              <a:rPr lang="en-US" dirty="0"/>
              <a:t>	&lt;div  </a:t>
            </a:r>
            <a:r>
              <a:rPr lang="en-US" b="1" dirty="0">
                <a:solidFill>
                  <a:srgbClr val="FF0000"/>
                </a:solidFill>
              </a:rPr>
              <a:t>:class</a:t>
            </a:r>
            <a:r>
              <a:rPr lang="en-US" dirty="0"/>
              <a:t>="{ </a:t>
            </a:r>
            <a:r>
              <a:rPr lang="en-US" dirty="0" err="1"/>
              <a:t>myclass</a:t>
            </a:r>
            <a:r>
              <a:rPr lang="en-US" dirty="0"/>
              <a:t>: </a:t>
            </a:r>
            <a:r>
              <a:rPr lang="en-US" b="1" dirty="0" err="1">
                <a:solidFill>
                  <a:srgbClr val="00B050"/>
                </a:solidFill>
              </a:rPr>
              <a:t>isActive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dirty="0"/>
              <a:t>}"&gt;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Child Component (</a:t>
            </a:r>
            <a:r>
              <a:rPr lang="en-US" dirty="0" err="1"/>
              <a:t>defprop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dirty="0"/>
              <a:t>	 &lt;Child </a:t>
            </a:r>
            <a:r>
              <a:rPr lang="en-US" b="1" dirty="0">
                <a:solidFill>
                  <a:srgbClr val="FF0000"/>
                </a:solidFill>
              </a:rPr>
              <a:t>:name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="</a:t>
            </a:r>
            <a:r>
              <a:rPr lang="en-US" b="1" dirty="0" err="1">
                <a:solidFill>
                  <a:srgbClr val="00B050"/>
                </a:solidFill>
              </a:rPr>
              <a:t>userName</a:t>
            </a:r>
            <a:r>
              <a:rPr lang="en-US" dirty="0"/>
              <a:t>" /&gt;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3B9CC8-47A0-AD99-8B10-C5169BEFD50C}"/>
              </a:ext>
            </a:extLst>
          </p:cNvPr>
          <p:cNvSpPr txBox="1"/>
          <p:nvPr/>
        </p:nvSpPr>
        <p:spPr>
          <a:xfrm>
            <a:off x="5264058" y="266277"/>
            <a:ext cx="60939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ighlight>
                  <a:srgbClr val="FFFF00"/>
                </a:highlight>
              </a:rPr>
              <a:t>https://onecompiler.com/vue/44rc5nsv6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1805EF-C362-9C67-076F-499466398947}"/>
              </a:ext>
            </a:extLst>
          </p:cNvPr>
          <p:cNvSpPr txBox="1"/>
          <p:nvPr/>
        </p:nvSpPr>
        <p:spPr>
          <a:xfrm>
            <a:off x="688932" y="1114817"/>
            <a:ext cx="27574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4000" dirty="0"/>
              <a:t>สามารถกำหนดค่า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91867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4073</TotalTime>
  <Words>999</Words>
  <Application>Microsoft Office PowerPoint</Application>
  <PresentationFormat>Widescreen</PresentationFormat>
  <Paragraphs>172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Office Theme</vt:lpstr>
      <vt:lpstr> (ตอน:แนวคิดของ dynamic binding ใน Vue)</vt:lpstr>
      <vt:lpstr>Html Binding Concept</vt:lpstr>
      <vt:lpstr>PowerPoint Presentation</vt:lpstr>
      <vt:lpstr>v-bind : เป็น directive ที่ช่วยให้ vue สามารถกำหนดคุณสมบัติของattribute ใน tag /style และ Child component ขณะ runtime (dynamic binding mechanism)</vt:lpstr>
      <vt:lpstr>v-bind (:)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rapirak jirayu</dc:creator>
  <cp:lastModifiedBy>rapirak jirayu</cp:lastModifiedBy>
  <cp:revision>84</cp:revision>
  <dcterms:created xsi:type="dcterms:W3CDTF">2026-05-16T02:50:47Z</dcterms:created>
  <dcterms:modified xsi:type="dcterms:W3CDTF">2026-06-05T07:06:16Z</dcterms:modified>
</cp:coreProperties>
</file>