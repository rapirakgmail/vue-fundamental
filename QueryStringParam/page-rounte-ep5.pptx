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68" r:id="rId4"/>
    <p:sldId id="264" r:id="rId5"/>
    <p:sldId id="266" r:id="rId6"/>
    <p:sldId id="262" r:id="rId7"/>
    <p:sldId id="2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4877" autoAdjust="0"/>
  </p:normalViewPr>
  <p:slideViewPr>
    <p:cSldViewPr snapToGrid="0">
      <p:cViewPr varScale="1">
        <p:scale>
          <a:sx n="78" d="100"/>
          <a:sy n="78" d="100"/>
        </p:scale>
        <p:origin x="17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50E792-7B21-4402-9244-F92D6EC1367D}" type="datetimeFigureOut">
              <a:rPr lang="en-US" smtClean="0"/>
              <a:t>22/06/2026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36640-B669-4F47-AFB1-E61C814D0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834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Vue Router 4–EP4:</a:t>
            </a:r>
            <a:r>
              <a:rPr lang="th-TH" dirty="0"/>
              <a:t>การทำหน้าจอ </a:t>
            </a:r>
            <a:r>
              <a:rPr lang="en-US" dirty="0" err="1"/>
              <a:t>List&amp;Detail</a:t>
            </a:r>
            <a:r>
              <a:rPr lang="en-US" dirty="0"/>
              <a:t> Page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36640-B669-4F47-AFB1-E61C814D0CB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637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36640-B669-4F47-AFB1-E61C814D0CB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241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36640-B669-4F47-AFB1-E61C814D0CB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683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11D56-CC25-FEE1-49D5-DD94521888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D556B3-B10C-595E-E08D-F82D426004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491F9-405A-723E-0266-E030640C1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E2626-68CC-2AA8-EBFB-BA518909A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6C317-1F4C-5AE9-207E-7ACA4BE61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07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72636-37AC-6F05-B58E-5C9FE6CCC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D8AA5-0ACF-AB3D-7F12-38985AB83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0CAD7-53B5-65D8-533B-C3031BA0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DCBBF-8989-4544-FB71-99FB53C93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DFC58-F701-1F7A-DEA9-65D0AA4E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18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44228-C99D-E58D-E637-ACF3C211C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3E8B0-9905-8502-EC55-674146940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48501-B36F-F262-69BC-4117865DC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A898E-86B0-B713-A207-F539473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30980-729A-BAE4-24A7-97655CD16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250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AC8A-C6BE-CE34-2FFB-3E75AD866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6D7F0-0A1D-1531-2E78-43F363A770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BE69C-72C4-4611-44F1-CECDF3BD2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CE6E49-2774-4993-2E72-F92B7B32A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22/06/2026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845C7-DE9C-BEE9-6F41-DB97BD6D3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11C74E-6A8C-854C-28F1-E04100239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91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63A1A-32B1-34F8-470F-C231E8199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0FC17-8F57-AE61-2CF1-7C10442AF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8A560-A84F-813F-92F0-DE088C042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A35438-14DD-6007-6D43-58A5C28593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5E2760-0C05-6491-17C1-335EBFDEF5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79DF92-D1CE-6DC8-2D91-FEEB0F50D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22/06/2026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81EE77-0935-3326-2BCD-69979D738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92D776-5D43-7CCD-374D-7A33E04E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3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C3B7E-FE82-645D-E36B-CAA3F1C34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DE9FB9-BBB0-9B45-D935-0EA86BBDC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22/06/2026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961958-E809-14C4-761B-DE0DDA004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33B411-C639-FECB-7375-B389247AE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160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64886-E517-CD43-695B-7D3C34B93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22/06/2026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FB4BE3-F806-6B11-5866-A05DA26AA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3C38B-596C-3330-FFF6-5A6347F17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615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873E7-EBF8-5B33-E1EC-9776686DB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6270E-AB95-CE55-ED7C-BF7F971CC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0CDC1-3A86-48E8-AF59-700A70C5BA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0C7993-C21A-3661-4263-612D122E9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22/06/2026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9D8F0-2051-3427-320A-9F5E87772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AF1DF-677F-83B1-9EC1-A1E91624B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925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9C92A-E097-F04E-9C89-E634FF769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930BA9-8165-70EB-9D36-35343ED4BC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317C07-906C-637D-2F8E-B757B8060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E4C64-BC87-DA29-DA35-3C36B180A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22/06/2026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96F2A-C4A0-9E59-23BB-539CEBE0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F5C25-BF05-5D60-BBF5-62F8EC307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89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1CB83-0070-8374-4BD2-FD8EA25A6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FF5228-D69D-C02C-8A90-B4D54FBB4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2D53A-F3B1-E190-1D41-F8C7982C1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67E1D-3415-395E-FFF5-3063B4E69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433BC-5098-2178-C191-C5FEB6253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088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39B349-8CC6-5F8D-2FDE-FF6B0EE465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ECF31D-74E5-4915-6CAC-CAF3BE9B9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71AA5-29B8-FBFF-4AA0-61D3E3321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11716-D5C0-77AE-41E3-CC7210C4E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843F9-0DE3-3DA1-CC93-E256E449B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30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7B0666-E4BC-20BE-AB68-4EE5494B4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7D7A5-6DA8-564B-1205-E20DE679FE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DABB9-65D9-3C8C-2145-7C12AEB22E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BAA1D-CD6B-4A02-B270-D7E8779137E9}" type="datetimeFigureOut">
              <a:rPr lang="en-US" smtClean="0"/>
              <a:t>22/06/2026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27669-D06E-5580-29CC-67A7A5B06C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02EE8-6719-73D9-7479-84136D4909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579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B928A-F245-4464-F9E4-8F8E71F3D3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422" y="1970931"/>
            <a:ext cx="11862486" cy="923330"/>
          </a:xfrm>
        </p:spPr>
        <p:txBody>
          <a:bodyPr>
            <a:noAutofit/>
          </a:bodyPr>
          <a:lstStyle/>
          <a:p>
            <a:br>
              <a:rPr lang="th-TH" sz="4400" b="1" dirty="0"/>
            </a:br>
            <a:r>
              <a:rPr lang="en-US" sz="4400" b="1" dirty="0">
                <a:solidFill>
                  <a:schemeClr val="accent1"/>
                </a:solidFill>
              </a:rPr>
              <a:t>(</a:t>
            </a:r>
            <a:r>
              <a:rPr lang="th-TH" sz="4400" b="1" dirty="0">
                <a:solidFill>
                  <a:schemeClr val="accent1"/>
                </a:solidFill>
              </a:rPr>
              <a:t>ตอน</a:t>
            </a:r>
            <a:r>
              <a:rPr lang="en-US" sz="4400" b="1" dirty="0">
                <a:solidFill>
                  <a:schemeClr val="accent1"/>
                </a:solidFill>
              </a:rPr>
              <a:t>:</a:t>
            </a:r>
            <a:r>
              <a:rPr lang="th-TH" sz="4400" b="1" dirty="0">
                <a:solidFill>
                  <a:schemeClr val="accent1"/>
                </a:solidFill>
              </a:rPr>
              <a:t>การใช้</a:t>
            </a:r>
            <a:r>
              <a:rPr lang="en-US" sz="4400" b="1" dirty="0">
                <a:solidFill>
                  <a:schemeClr val="accent1"/>
                </a:solidFill>
              </a:rPr>
              <a:t> Query string Parameter 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C0A84F-6D86-5281-5C04-FA6258D0CF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2073" y="3390990"/>
            <a:ext cx="8801100" cy="1655762"/>
          </a:xfrm>
        </p:spPr>
        <p:txBody>
          <a:bodyPr>
            <a:normAutofit/>
          </a:bodyPr>
          <a:lstStyle/>
          <a:p>
            <a:pPr algn="l"/>
            <a:r>
              <a:rPr lang="th-TH" sz="4000" b="1" dirty="0">
                <a:solidFill>
                  <a:srgbClr val="FF0000"/>
                </a:solidFill>
              </a:rPr>
              <a:t>สามารถฝึกปฏิบัติแบบออนไลน์จาก </a:t>
            </a:r>
            <a:r>
              <a:rPr lang="en-US" sz="4000" b="1" dirty="0">
                <a:solidFill>
                  <a:srgbClr val="FF0000"/>
                </a:solidFill>
              </a:rPr>
              <a:t>source code </a:t>
            </a:r>
          </a:p>
          <a:p>
            <a:pPr algn="l"/>
            <a:r>
              <a:rPr lang="th-TH" sz="4000" b="1" dirty="0">
                <a:solidFill>
                  <a:srgbClr val="FF0000"/>
                </a:solidFill>
              </a:rPr>
              <a:t>ผ่านลิงก์</a:t>
            </a:r>
            <a:r>
              <a:rPr lang="en-US" sz="4000" b="1" dirty="0">
                <a:solidFill>
                  <a:srgbClr val="FF0000"/>
                </a:solidFill>
              </a:rPr>
              <a:t>(link)</a:t>
            </a:r>
            <a:r>
              <a:rPr lang="th-TH" sz="4000" b="1" dirty="0">
                <a:solidFill>
                  <a:srgbClr val="FF0000"/>
                </a:solidFill>
              </a:rPr>
              <a:t> ในคำอธิบายใต้คลิป </a:t>
            </a:r>
            <a:r>
              <a:rPr lang="en-US" sz="4000" b="1" dirty="0">
                <a:solidFill>
                  <a:srgbClr val="FF0000"/>
                </a:solidFill>
              </a:rPr>
              <a:t>YouTube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2E2211-34DE-ABB9-BBE3-5452EB372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48" y="5200649"/>
            <a:ext cx="2333704" cy="9334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5BB053-51FD-D8FA-C3AE-1DAA04ECACE2}"/>
              </a:ext>
            </a:extLst>
          </p:cNvPr>
          <p:cNvSpPr txBox="1"/>
          <p:nvPr/>
        </p:nvSpPr>
        <p:spPr>
          <a:xfrm>
            <a:off x="370356" y="661256"/>
            <a:ext cx="125050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Vue Router 4–EP5:</a:t>
            </a:r>
            <a:r>
              <a:rPr lang="th-TH" sz="4800" dirty="0"/>
              <a:t>การทำหน้าจอ</a:t>
            </a:r>
            <a:r>
              <a:rPr lang="en-US" sz="4800" dirty="0"/>
              <a:t> filter</a:t>
            </a:r>
            <a:r>
              <a:rPr lang="th-TH" sz="4800" dirty="0"/>
              <a:t> แสดงข้อมูล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289560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B4B08-3CEB-AA17-5A5A-F874B409B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28" y="270736"/>
            <a:ext cx="1707294" cy="725487"/>
          </a:xfrm>
        </p:spPr>
        <p:txBody>
          <a:bodyPr>
            <a:normAutofit/>
          </a:bodyPr>
          <a:lstStyle/>
          <a:p>
            <a:r>
              <a:rPr lang="th-TH" dirty="0"/>
              <a:t>โจทย์</a:t>
            </a:r>
            <a:r>
              <a:rPr lang="en-US" dirty="0"/>
              <a:t> 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11D285-2EC0-B2E5-9C04-404732AD0DFB}"/>
              </a:ext>
            </a:extLst>
          </p:cNvPr>
          <p:cNvSpPr txBox="1"/>
          <p:nvPr/>
        </p:nvSpPr>
        <p:spPr>
          <a:xfrm>
            <a:off x="3049030" y="426986"/>
            <a:ext cx="62308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https://onecompiler.com/vue/44sqpsafp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6696C0-3BA2-5947-442B-239C87EC1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0517" y="1241259"/>
            <a:ext cx="4478186" cy="543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421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B1B73-0B3C-F5A0-366C-8DBE4DF31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72" y="31491"/>
            <a:ext cx="10515600" cy="1325563"/>
          </a:xfrm>
        </p:spPr>
        <p:txBody>
          <a:bodyPr/>
          <a:lstStyle/>
          <a:p>
            <a:r>
              <a:rPr lang="th-TH" dirty="0"/>
              <a:t>แนวทางในการออกแบบโปรแกรม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9CE319-6DAF-B6FC-2665-6F8CCB6B7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74" y="1254164"/>
            <a:ext cx="5712404" cy="497364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C2AB815-1A9E-AEA5-A6E8-1D2B43E081E2}"/>
              </a:ext>
            </a:extLst>
          </p:cNvPr>
          <p:cNvSpPr/>
          <p:nvPr/>
        </p:nvSpPr>
        <p:spPr>
          <a:xfrm>
            <a:off x="0" y="2496065"/>
            <a:ext cx="4720281" cy="31077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DC2767-133A-257C-7257-D708344911E3}"/>
              </a:ext>
            </a:extLst>
          </p:cNvPr>
          <p:cNvSpPr txBox="1"/>
          <p:nvPr/>
        </p:nvSpPr>
        <p:spPr>
          <a:xfrm>
            <a:off x="5733535" y="1581665"/>
            <a:ext cx="610423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th-TH" sz="3200" dirty="0"/>
              <a:t>มี</a:t>
            </a:r>
            <a:r>
              <a:rPr lang="en-US" sz="3200" dirty="0"/>
              <a:t> child component</a:t>
            </a:r>
            <a:r>
              <a:rPr lang="th-TH" sz="3200" dirty="0"/>
              <a:t> </a:t>
            </a:r>
            <a:r>
              <a:rPr lang="en-US" sz="3200" dirty="0"/>
              <a:t>(</a:t>
            </a:r>
            <a:r>
              <a:rPr lang="en-US" sz="3200" dirty="0" err="1"/>
              <a:t>UserList</a:t>
            </a:r>
            <a:r>
              <a:rPr lang="en-US" sz="3200" dirty="0"/>
              <a:t>) </a:t>
            </a:r>
            <a:r>
              <a:rPr lang="th-TH" sz="3200" dirty="0"/>
              <a:t>แสดงข้อมูลตาม</a:t>
            </a:r>
            <a:r>
              <a:rPr lang="en-US" sz="3200" dirty="0"/>
              <a:t> parameter </a:t>
            </a:r>
            <a:r>
              <a:rPr lang="th-TH" sz="3200" dirty="0"/>
              <a:t>มาทาง</a:t>
            </a:r>
            <a:r>
              <a:rPr lang="en-US" sz="3200" dirty="0"/>
              <a:t> </a:t>
            </a:r>
            <a:r>
              <a:rPr lang="en-US" sz="3200" dirty="0" err="1"/>
              <a:t>url</a:t>
            </a:r>
            <a:endParaRPr lang="en-US" sz="3200" dirty="0"/>
          </a:p>
          <a:p>
            <a:r>
              <a:rPr lang="en-US" sz="3200" dirty="0"/>
              <a:t>       -  </a:t>
            </a:r>
            <a:r>
              <a:rPr lang="th-TH" sz="3200" dirty="0"/>
              <a:t>มีส่วนของการรับข้อมูล    </a:t>
            </a:r>
          </a:p>
          <a:p>
            <a:r>
              <a:rPr lang="en-US" sz="3200" dirty="0"/>
              <a:t>             </a:t>
            </a:r>
            <a:r>
              <a:rPr lang="th-TH" sz="3200" dirty="0"/>
              <a:t>เมื่อกดปุ่ม</a:t>
            </a:r>
            <a:r>
              <a:rPr lang="en-US" sz="3200" dirty="0"/>
              <a:t> apply </a:t>
            </a:r>
            <a:r>
              <a:rPr lang="th-TH" sz="3200" dirty="0"/>
              <a:t> โปรแกรม </a:t>
            </a:r>
            <a:r>
              <a:rPr lang="en-US" sz="3200" dirty="0"/>
              <a:t>parent</a:t>
            </a:r>
            <a:endParaRPr lang="th-TH" sz="3200" dirty="0"/>
          </a:p>
          <a:p>
            <a:r>
              <a:rPr lang="th-TH" sz="3200" dirty="0"/>
              <a:t>                สั่งให้</a:t>
            </a:r>
            <a:r>
              <a:rPr lang="en-US" sz="3200" dirty="0"/>
              <a:t> load</a:t>
            </a:r>
            <a:r>
              <a:rPr lang="th-TH" sz="3200" dirty="0"/>
              <a:t> </a:t>
            </a:r>
            <a:r>
              <a:rPr lang="en-US" sz="3200" dirty="0"/>
              <a:t>data </a:t>
            </a:r>
            <a:r>
              <a:rPr lang="th-TH" sz="3200" dirty="0"/>
              <a:t>ตาม</a:t>
            </a:r>
            <a:r>
              <a:rPr lang="en-US" sz="3200" dirty="0"/>
              <a:t> </a:t>
            </a:r>
            <a:r>
              <a:rPr lang="en-US" sz="3200" dirty="0" err="1"/>
              <a:t>url</a:t>
            </a:r>
            <a:r>
              <a:rPr lang="th-TH" sz="3200" dirty="0"/>
              <a:t> ที่กำหนด</a:t>
            </a:r>
          </a:p>
          <a:p>
            <a:r>
              <a:rPr lang="th-TH" sz="3200" dirty="0"/>
              <a:t>                 </a:t>
            </a:r>
            <a:r>
              <a:rPr lang="en-US" sz="3200" dirty="0"/>
              <a:t>  </a:t>
            </a:r>
            <a:endParaRPr lang="th-TH" sz="3200" dirty="0"/>
          </a:p>
          <a:p>
            <a:r>
              <a:rPr lang="en-US" sz="3200" dirty="0"/>
              <a:t>       -  </a:t>
            </a:r>
            <a:r>
              <a:rPr lang="th-TH" sz="3200" dirty="0"/>
              <a:t>มีแสดง </a:t>
            </a:r>
            <a:r>
              <a:rPr lang="en-US" sz="3200" dirty="0"/>
              <a:t>List</a:t>
            </a:r>
            <a:endParaRPr lang="th-TH" sz="3200" dirty="0"/>
          </a:p>
          <a:p>
            <a:endParaRPr lang="th-TH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99011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D2A63-07F0-557E-2A48-1763BA64C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การส่ง</a:t>
            </a:r>
            <a:r>
              <a:rPr lang="en-US" dirty="0"/>
              <a:t> parameter</a:t>
            </a:r>
            <a:r>
              <a:rPr lang="th-TH" dirty="0"/>
              <a:t> ของ</a:t>
            </a:r>
            <a:r>
              <a:rPr lang="en-US" dirty="0"/>
              <a:t> </a:t>
            </a:r>
            <a:r>
              <a:rPr lang="en-US" dirty="0" err="1"/>
              <a:t>vue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890786-0A74-5165-044E-C72FD25F270D}"/>
              </a:ext>
            </a:extLst>
          </p:cNvPr>
          <p:cNvSpPr txBox="1"/>
          <p:nvPr/>
        </p:nvSpPr>
        <p:spPr>
          <a:xfrm>
            <a:off x="1121321" y="1689810"/>
            <a:ext cx="876094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Path Parameter:</a:t>
            </a:r>
          </a:p>
          <a:p>
            <a:endParaRPr lang="en-US" sz="2400" dirty="0"/>
          </a:p>
          <a:p>
            <a:r>
              <a:rPr lang="en-US" sz="2400" dirty="0"/>
              <a:t>   	&lt;a </a:t>
            </a:r>
            <a:r>
              <a:rPr lang="en-US" sz="2400" dirty="0" err="1"/>
              <a:t>href</a:t>
            </a:r>
            <a:r>
              <a:rPr lang="en-US" sz="2400" dirty="0"/>
              <a:t>="</a:t>
            </a:r>
            <a:r>
              <a:rPr lang="en-US" sz="2400" dirty="0">
                <a:solidFill>
                  <a:srgbClr val="FF0000"/>
                </a:solidFill>
              </a:rPr>
              <a:t>/detail</a:t>
            </a:r>
            <a:r>
              <a:rPr lang="en-US" sz="2400" dirty="0"/>
              <a:t>/1/John/edit" &gt; View &lt;/a&gt;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Query string Parameter:</a:t>
            </a:r>
          </a:p>
          <a:p>
            <a:endParaRPr lang="en-US" sz="2400" dirty="0"/>
          </a:p>
          <a:p>
            <a:r>
              <a:rPr lang="en-US" sz="2400" dirty="0"/>
              <a:t>	&lt;a </a:t>
            </a:r>
            <a:r>
              <a:rPr lang="en-US" sz="2400" dirty="0" err="1"/>
              <a:t>href</a:t>
            </a:r>
            <a:r>
              <a:rPr lang="en-US" sz="2400" dirty="0"/>
              <a:t>="</a:t>
            </a:r>
            <a:r>
              <a:rPr lang="en-US" sz="2400" dirty="0">
                <a:solidFill>
                  <a:srgbClr val="FF0000"/>
                </a:solidFill>
              </a:rPr>
              <a:t>/</a:t>
            </a:r>
            <a:r>
              <a:rPr lang="en-US" sz="2400" dirty="0" err="1">
                <a:solidFill>
                  <a:srgbClr val="FF0000"/>
                </a:solidFill>
              </a:rPr>
              <a:t>detail</a:t>
            </a:r>
            <a:r>
              <a:rPr lang="en-US" sz="2400" dirty="0" err="1"/>
              <a:t>?id</a:t>
            </a:r>
            <a:r>
              <a:rPr lang="en-US" sz="2400" dirty="0"/>
              <a:t>=1&amp;name=</a:t>
            </a:r>
            <a:r>
              <a:rPr lang="en-US" sz="2400" dirty="0" err="1"/>
              <a:t>John&amp;mode</a:t>
            </a:r>
            <a:r>
              <a:rPr lang="en-US" sz="2400" dirty="0"/>
              <a:t>=edit"&gt;View&lt;/a&gt;</a:t>
            </a:r>
          </a:p>
        </p:txBody>
      </p:sp>
    </p:spTree>
    <p:extLst>
      <p:ext uri="{BB962C8B-B14F-4D97-AF65-F5344CB8AC3E}">
        <p14:creationId xmlns:p14="http://schemas.microsoft.com/office/powerpoint/2010/main" val="2366140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F3965-6C8E-83C5-E671-71142A8C0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044DE-1547-19FC-6019-4E8B308BA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384" y="59683"/>
            <a:ext cx="8504234" cy="587913"/>
          </a:xfrm>
        </p:spPr>
        <p:txBody>
          <a:bodyPr>
            <a:normAutofit fontScale="90000"/>
          </a:bodyPr>
          <a:lstStyle/>
          <a:p>
            <a:r>
              <a:rPr lang="th-TH" dirty="0"/>
              <a:t>หลักในการใช้</a:t>
            </a:r>
            <a:r>
              <a:rPr lang="en-US" dirty="0"/>
              <a:t> Path &amp; Query String parameter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FAD8C3-0FDB-01B5-BA8C-6077E96BC6C8}"/>
              </a:ext>
            </a:extLst>
          </p:cNvPr>
          <p:cNvSpPr txBox="1"/>
          <p:nvPr/>
        </p:nvSpPr>
        <p:spPr>
          <a:xfrm>
            <a:off x="-1" y="646622"/>
            <a:ext cx="12724327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Path Parameter:</a:t>
            </a:r>
          </a:p>
          <a:p>
            <a:r>
              <a:rPr lang="en-US" sz="2400" b="1" dirty="0"/>
              <a:t>Data state:  </a:t>
            </a:r>
            <a:r>
              <a:rPr lang="en-US" sz="2400" dirty="0" err="1"/>
              <a:t>ระบุ</a:t>
            </a:r>
            <a:r>
              <a:rPr lang="en-US" sz="2400" dirty="0"/>
              <a:t> “resource identity”</a:t>
            </a:r>
            <a:r>
              <a:rPr lang="en-US" sz="2400" b="1" dirty="0"/>
              <a:t> (</a:t>
            </a:r>
            <a:r>
              <a:rPr lang="th-TH" sz="2400" b="1" dirty="0"/>
              <a:t>ฉันกำลังดูข้อมูลอะไร</a:t>
            </a:r>
            <a:r>
              <a:rPr lang="en-US" sz="2400" b="1" dirty="0"/>
              <a:t> )</a:t>
            </a:r>
          </a:p>
          <a:p>
            <a:r>
              <a:rPr lang="en-US" sz="2400" b="1" dirty="0"/>
              <a:t>	Url: </a:t>
            </a:r>
          </a:p>
          <a:p>
            <a:r>
              <a:rPr lang="en-US" sz="2400" b="1" dirty="0"/>
              <a:t>                     </a:t>
            </a:r>
            <a:r>
              <a:rPr lang="en-US" sz="2400" dirty="0"/>
              <a:t>/user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/1</a:t>
            </a:r>
            <a:r>
              <a:rPr lang="en-US" sz="2400" dirty="0"/>
              <a:t> 			</a:t>
            </a:r>
            <a:r>
              <a:rPr lang="th-TH" sz="2400" dirty="0"/>
              <a:t>แสดงข้อมูล </a:t>
            </a:r>
            <a:r>
              <a:rPr lang="en-US" sz="2400" dirty="0"/>
              <a:t>user </a:t>
            </a:r>
            <a:r>
              <a:rPr lang="th-TH" sz="2400" dirty="0"/>
              <a:t>ที่มี </a:t>
            </a:r>
            <a:r>
              <a:rPr lang="en-US" sz="2400" dirty="0"/>
              <a:t>id/code = 1	</a:t>
            </a:r>
          </a:p>
          <a:p>
            <a:r>
              <a:rPr lang="en-US" sz="2400" b="1" dirty="0"/>
              <a:t>                     </a:t>
            </a:r>
            <a:r>
              <a:rPr lang="en-US" sz="2400" dirty="0"/>
              <a:t>/user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/2</a:t>
            </a:r>
            <a:r>
              <a:rPr lang="en-US" sz="2400" dirty="0"/>
              <a:t> 			</a:t>
            </a:r>
            <a:r>
              <a:rPr lang="th-TH" sz="2400" dirty="0"/>
              <a:t> แสดงข้อมูล</a:t>
            </a:r>
            <a:r>
              <a:rPr lang="en-US" sz="2400" dirty="0"/>
              <a:t> user </a:t>
            </a:r>
            <a:r>
              <a:rPr lang="th-TH" sz="2400" dirty="0"/>
              <a:t>ที่มี</a:t>
            </a:r>
            <a:r>
              <a:rPr lang="en-US" sz="2400" dirty="0"/>
              <a:t> id /code = 2</a:t>
            </a:r>
          </a:p>
          <a:p>
            <a:r>
              <a:rPr lang="th-TH" sz="2400" dirty="0"/>
              <a:t>	        </a:t>
            </a:r>
            <a:r>
              <a:rPr lang="en-US" sz="2400" dirty="0"/>
              <a:t> /product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/99</a:t>
            </a:r>
            <a:r>
              <a:rPr lang="en-US" sz="2400" dirty="0"/>
              <a:t>		</a:t>
            </a:r>
            <a:r>
              <a:rPr lang="th-TH" sz="2400" dirty="0"/>
              <a:t> แสดงข้อมูล</a:t>
            </a:r>
            <a:r>
              <a:rPr lang="en-US" sz="2400" dirty="0"/>
              <a:t> product </a:t>
            </a:r>
            <a:r>
              <a:rPr lang="th-TH" sz="2400" dirty="0"/>
              <a:t>ที่มี</a:t>
            </a:r>
            <a:r>
              <a:rPr lang="en-US" sz="2400" dirty="0"/>
              <a:t> id /code = 99</a:t>
            </a:r>
            <a:endParaRPr lang="en-US" sz="2400" b="1" dirty="0"/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Query string Parameter:</a:t>
            </a:r>
          </a:p>
          <a:p>
            <a:r>
              <a:rPr lang="en-US" sz="2400" b="1" dirty="0"/>
              <a:t>UI state  : </a:t>
            </a:r>
            <a:r>
              <a:rPr lang="en-US" sz="2400" dirty="0" err="1"/>
              <a:t>ระบุ</a:t>
            </a:r>
            <a:r>
              <a:rPr lang="en-US" sz="2400" dirty="0"/>
              <a:t> “optional modifiers” </a:t>
            </a:r>
            <a:r>
              <a:rPr lang="en-US" sz="2400" b="1" dirty="0"/>
              <a:t>(</a:t>
            </a:r>
            <a:r>
              <a:rPr lang="en-US" sz="2400" dirty="0" err="1"/>
              <a:t>สถานะการแสดงผลของหน้า</a:t>
            </a:r>
            <a:r>
              <a:rPr lang="en-US" sz="2400" dirty="0"/>
              <a:t>)</a:t>
            </a:r>
            <a:r>
              <a:rPr lang="th-TH" sz="2400" dirty="0"/>
              <a:t> เช่น</a:t>
            </a:r>
            <a:r>
              <a:rPr lang="en-US" sz="2400" dirty="0"/>
              <a:t> filter , sort , </a:t>
            </a:r>
            <a:r>
              <a:rPr lang="en-US" sz="2400" dirty="0" err="1"/>
              <a:t>paination</a:t>
            </a:r>
            <a:endParaRPr lang="en-US" sz="2400" b="1" dirty="0"/>
          </a:p>
          <a:p>
            <a:r>
              <a:rPr lang="th-TH" sz="2400" b="1" dirty="0"/>
              <a:t>     </a:t>
            </a:r>
            <a:r>
              <a:rPr lang="en-US" sz="2400" b="1" dirty="0"/>
              <a:t>Url: </a:t>
            </a:r>
          </a:p>
          <a:p>
            <a:r>
              <a:rPr lang="th-TH" sz="2400" dirty="0"/>
              <a:t>          </a:t>
            </a:r>
            <a:r>
              <a:rPr lang="en-US" sz="2400" dirty="0"/>
              <a:t>/</a:t>
            </a:r>
            <a:r>
              <a:rPr lang="en-US" sz="2400" dirty="0" err="1"/>
              <a:t>CustomerList</a:t>
            </a:r>
            <a:r>
              <a:rPr lang="en-US" sz="2400" dirty="0" err="1">
                <a:highlight>
                  <a:srgbClr val="00FFFF"/>
                </a:highlight>
              </a:rPr>
              <a:t>?page</a:t>
            </a:r>
            <a:r>
              <a:rPr lang="en-US" sz="2400" dirty="0">
                <a:highlight>
                  <a:srgbClr val="00FFFF"/>
                </a:highlight>
              </a:rPr>
              <a:t>=1</a:t>
            </a:r>
            <a:r>
              <a:rPr lang="en-US" sz="2400" dirty="0"/>
              <a:t>	</a:t>
            </a:r>
            <a:r>
              <a:rPr lang="th-TH" sz="2400" dirty="0"/>
              <a:t> </a:t>
            </a:r>
            <a:r>
              <a:rPr lang="en-US" sz="2400" dirty="0"/>
              <a:t>                      </a:t>
            </a:r>
            <a:r>
              <a:rPr lang="th-TH" sz="2400" dirty="0"/>
              <a:t>แสดงข้อมูล </a:t>
            </a:r>
            <a:r>
              <a:rPr lang="en-US" sz="2400" dirty="0" err="1"/>
              <a:t>CustomerList</a:t>
            </a:r>
            <a:r>
              <a:rPr lang="en-US" sz="2400" dirty="0"/>
              <a:t> </a:t>
            </a:r>
            <a:r>
              <a:rPr lang="th-TH" sz="2400" dirty="0"/>
              <a:t>หน้าที่</a:t>
            </a:r>
            <a:r>
              <a:rPr lang="en-US" sz="2400" dirty="0"/>
              <a:t> 1</a:t>
            </a:r>
            <a:endParaRPr lang="th-TH" sz="2400" dirty="0"/>
          </a:p>
          <a:p>
            <a:r>
              <a:rPr lang="th-TH" sz="2400" dirty="0"/>
              <a:t>          </a:t>
            </a:r>
            <a:r>
              <a:rPr lang="en-US" sz="2400" dirty="0"/>
              <a:t>/</a:t>
            </a:r>
            <a:r>
              <a:rPr lang="en-US" sz="2400" dirty="0" err="1"/>
              <a:t>CustomerList</a:t>
            </a:r>
            <a:r>
              <a:rPr lang="en-US" sz="2400" dirty="0" err="1">
                <a:highlight>
                  <a:srgbClr val="00FFFF"/>
                </a:highlight>
              </a:rPr>
              <a:t>?page</a:t>
            </a:r>
            <a:r>
              <a:rPr lang="en-US" sz="2400" dirty="0">
                <a:highlight>
                  <a:srgbClr val="00FFFF"/>
                </a:highlight>
              </a:rPr>
              <a:t>=2</a:t>
            </a:r>
            <a:r>
              <a:rPr lang="en-US" sz="2400" dirty="0"/>
              <a:t>                           </a:t>
            </a:r>
            <a:r>
              <a:rPr lang="th-TH" sz="2400" dirty="0"/>
              <a:t>แสดงข้อมูล </a:t>
            </a:r>
            <a:r>
              <a:rPr lang="en-US" sz="2400" dirty="0" err="1"/>
              <a:t>CustomerList</a:t>
            </a:r>
            <a:r>
              <a:rPr lang="en-US" sz="2400" dirty="0"/>
              <a:t> </a:t>
            </a:r>
            <a:r>
              <a:rPr lang="th-TH" sz="2400" dirty="0"/>
              <a:t>หน้าที่</a:t>
            </a:r>
            <a:r>
              <a:rPr lang="en-US" sz="2400" dirty="0"/>
              <a:t> 2</a:t>
            </a:r>
            <a:r>
              <a:rPr lang="th-TH" sz="2400" b="1" dirty="0"/>
              <a:t>     </a:t>
            </a:r>
          </a:p>
          <a:p>
            <a:r>
              <a:rPr lang="th-TH" sz="2400" b="1" dirty="0"/>
              <a:t>        </a:t>
            </a:r>
            <a:r>
              <a:rPr lang="en-US" sz="2400" dirty="0"/>
              <a:t>/</a:t>
            </a:r>
            <a:r>
              <a:rPr lang="en-US" sz="2400" dirty="0" err="1"/>
              <a:t>products</a:t>
            </a:r>
            <a:r>
              <a:rPr lang="en-US" sz="2400" dirty="0" err="1">
                <a:highlight>
                  <a:srgbClr val="00FFFF"/>
                </a:highlight>
              </a:rPr>
              <a:t>?category</a:t>
            </a:r>
            <a:r>
              <a:rPr lang="en-US" sz="2400" dirty="0">
                <a:highlight>
                  <a:srgbClr val="00FFFF"/>
                </a:highlight>
              </a:rPr>
              <a:t>=</a:t>
            </a:r>
            <a:r>
              <a:rPr lang="en-US" sz="2400" dirty="0" err="1">
                <a:highlight>
                  <a:srgbClr val="00FFFF"/>
                </a:highlight>
              </a:rPr>
              <a:t>shoe&amp;sort</a:t>
            </a:r>
            <a:r>
              <a:rPr lang="en-US" sz="2400" dirty="0">
                <a:highlight>
                  <a:srgbClr val="00FFFF"/>
                </a:highlight>
              </a:rPr>
              <a:t>=</a:t>
            </a:r>
            <a:r>
              <a:rPr lang="en-US" sz="2400" dirty="0" err="1">
                <a:highlight>
                  <a:srgbClr val="00FFFF"/>
                </a:highlight>
              </a:rPr>
              <a:t>asc</a:t>
            </a:r>
            <a:r>
              <a:rPr lang="en-US" sz="2400" dirty="0"/>
              <a:t>    </a:t>
            </a:r>
            <a:r>
              <a:rPr lang="th-TH" sz="2400" dirty="0"/>
              <a:t>แสดงข้อมูล </a:t>
            </a:r>
            <a:r>
              <a:rPr lang="en-US" sz="2400" dirty="0"/>
              <a:t>product</a:t>
            </a:r>
            <a:r>
              <a:rPr lang="th-TH" sz="2400" dirty="0"/>
              <a:t> ที่ </a:t>
            </a:r>
            <a:r>
              <a:rPr lang="en-US" sz="2400" dirty="0"/>
              <a:t>category=shoe </a:t>
            </a:r>
            <a:r>
              <a:rPr lang="th-TH" sz="2400" dirty="0"/>
              <a:t>และเรียงจากน้อยไปมาก</a:t>
            </a:r>
          </a:p>
          <a:p>
            <a:r>
              <a:rPr lang="th-TH" sz="2400" dirty="0"/>
              <a:t>          </a:t>
            </a:r>
            <a:r>
              <a:rPr lang="en-US" sz="2400" dirty="0"/>
              <a:t>/</a:t>
            </a:r>
            <a:r>
              <a:rPr lang="en-US" sz="2400" dirty="0" err="1"/>
              <a:t>products</a:t>
            </a:r>
            <a:r>
              <a:rPr lang="en-US" sz="2400" dirty="0" err="1">
                <a:highlight>
                  <a:srgbClr val="00FFFF"/>
                </a:highlight>
              </a:rPr>
              <a:t>?search</a:t>
            </a:r>
            <a:r>
              <a:rPr lang="en-US" sz="2400" dirty="0">
                <a:highlight>
                  <a:srgbClr val="00FFFF"/>
                </a:highlight>
              </a:rPr>
              <a:t>=</a:t>
            </a:r>
            <a:r>
              <a:rPr lang="en-US" sz="2400" dirty="0" err="1">
                <a:highlight>
                  <a:srgbClr val="00FFFF"/>
                </a:highlight>
              </a:rPr>
              <a:t>iphone</a:t>
            </a:r>
            <a:r>
              <a:rPr lang="en-US" sz="2400" dirty="0"/>
              <a:t>                      </a:t>
            </a:r>
            <a:r>
              <a:rPr lang="th-TH" sz="2400" dirty="0"/>
              <a:t>แสดงข้อมูล </a:t>
            </a:r>
            <a:r>
              <a:rPr lang="en-US" sz="2400" dirty="0"/>
              <a:t>product</a:t>
            </a:r>
            <a:r>
              <a:rPr lang="th-TH" sz="2400" dirty="0"/>
              <a:t> ที่เป็นผลลัพธ์ของการค้น</a:t>
            </a:r>
            <a:r>
              <a:rPr lang="en-US" sz="2400" dirty="0"/>
              <a:t> </a:t>
            </a:r>
            <a:r>
              <a:rPr lang="en-US" sz="2400" dirty="0" err="1"/>
              <a:t>iphone</a:t>
            </a:r>
            <a:endParaRPr lang="th-TH" sz="2400" dirty="0"/>
          </a:p>
          <a:p>
            <a:r>
              <a:rPr lang="th-TH" sz="2400" dirty="0"/>
              <a:t>          </a:t>
            </a:r>
            <a:r>
              <a:rPr lang="en-US" sz="2400" dirty="0"/>
              <a:t>/</a:t>
            </a:r>
            <a:r>
              <a:rPr lang="en-US" sz="2400" dirty="0" err="1"/>
              <a:t>customer</a:t>
            </a:r>
            <a:r>
              <a:rPr lang="en-US" sz="2400" dirty="0" err="1">
                <a:highlight>
                  <a:srgbClr val="00FFFF"/>
                </a:highlight>
              </a:rPr>
              <a:t>?mode</a:t>
            </a:r>
            <a:r>
              <a:rPr lang="en-US" sz="2400" dirty="0">
                <a:highlight>
                  <a:srgbClr val="00FFFF"/>
                </a:highlight>
              </a:rPr>
              <a:t>=view</a:t>
            </a:r>
            <a:r>
              <a:rPr lang="en-US" sz="2400" dirty="0"/>
              <a:t>	                       </a:t>
            </a:r>
            <a:r>
              <a:rPr lang="th-TH" sz="2400" dirty="0"/>
              <a:t>แสดงหน้าจอ </a:t>
            </a:r>
            <a:r>
              <a:rPr lang="en-US" sz="2400" dirty="0"/>
              <a:t>customer</a:t>
            </a:r>
            <a:r>
              <a:rPr lang="th-TH" sz="2400" dirty="0"/>
              <a:t> เพื่อ</a:t>
            </a:r>
            <a:r>
              <a:rPr lang="en-US" sz="2400" dirty="0"/>
              <a:t> view customer data</a:t>
            </a:r>
          </a:p>
          <a:p>
            <a:r>
              <a:rPr lang="en-US" sz="2400" dirty="0"/>
              <a:t>         /</a:t>
            </a:r>
            <a:r>
              <a:rPr lang="en-US" sz="2400" dirty="0" err="1"/>
              <a:t>customer</a:t>
            </a:r>
            <a:r>
              <a:rPr lang="en-US" sz="2400" dirty="0" err="1">
                <a:highlight>
                  <a:srgbClr val="00FFFF"/>
                </a:highlight>
              </a:rPr>
              <a:t>?mode</a:t>
            </a:r>
            <a:r>
              <a:rPr lang="en-US" sz="2400" dirty="0">
                <a:highlight>
                  <a:srgbClr val="00FFFF"/>
                </a:highlight>
              </a:rPr>
              <a:t>=edit</a:t>
            </a:r>
            <a:r>
              <a:rPr lang="en-US" sz="2400" dirty="0"/>
              <a:t>                           </a:t>
            </a:r>
            <a:r>
              <a:rPr lang="th-TH" sz="2400" dirty="0"/>
              <a:t>แสดงหน้าจอ </a:t>
            </a:r>
            <a:r>
              <a:rPr lang="en-US" sz="2400" dirty="0"/>
              <a:t>customer</a:t>
            </a:r>
            <a:r>
              <a:rPr lang="th-TH" sz="2400" dirty="0"/>
              <a:t> เพื่อ</a:t>
            </a:r>
            <a:r>
              <a:rPr lang="en-US" sz="2400" dirty="0"/>
              <a:t> edit  customer data</a:t>
            </a:r>
            <a:endParaRPr lang="en-US" sz="2400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95449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2D0AEF-E373-E5AE-95D6-93AE718B58D2}"/>
              </a:ext>
            </a:extLst>
          </p:cNvPr>
          <p:cNvSpPr txBox="1"/>
          <p:nvPr/>
        </p:nvSpPr>
        <p:spPr>
          <a:xfrm>
            <a:off x="293465" y="562605"/>
            <a:ext cx="5699554" cy="479458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th-TH" sz="240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383A42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383A42"/>
                </a:solidFill>
                <a:latin typeface="Consolas" panose="020B0609020204030204" pitchFamily="49" charset="0"/>
              </a:rPr>
              <a:t>RouterLink</a:t>
            </a:r>
            <a:endParaRPr lang="th-TH" sz="240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383A42"/>
                </a:solidFill>
                <a:latin typeface="Consolas" panose="020B0609020204030204" pitchFamily="49" charset="0"/>
              </a:rPr>
              <a:t>  :to="{</a:t>
            </a:r>
          </a:p>
          <a:p>
            <a:pPr>
              <a:lnSpc>
                <a:spcPts val="1425"/>
              </a:lnSpc>
              <a:buNone/>
            </a:pPr>
            <a:endParaRPr lang="th-TH" sz="240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    name: 'products’,</a:t>
            </a:r>
          </a:p>
          <a:p>
            <a:pPr>
              <a:lnSpc>
                <a:spcPts val="1425"/>
              </a:lnSpc>
              <a:buNone/>
            </a:pPr>
            <a:endParaRPr lang="th-TH" sz="240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383A42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B0F0"/>
                </a:solidFill>
                <a:latin typeface="Consolas" panose="020B0609020204030204" pitchFamily="49" charset="0"/>
              </a:rPr>
              <a:t>query</a:t>
            </a:r>
            <a:r>
              <a:rPr lang="en-US" sz="2400" dirty="0">
                <a:solidFill>
                  <a:srgbClr val="383A42"/>
                </a:solidFill>
                <a:latin typeface="Consolas" panose="020B0609020204030204" pitchFamily="49" charset="0"/>
              </a:rPr>
              <a:t>: {</a:t>
            </a:r>
          </a:p>
          <a:p>
            <a:pPr>
              <a:lnSpc>
                <a:spcPts val="1425"/>
              </a:lnSpc>
              <a:buNone/>
            </a:pPr>
            <a:endParaRPr lang="th-TH" sz="240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     category: 'shoe’,</a:t>
            </a:r>
          </a:p>
          <a:p>
            <a:pPr>
              <a:lnSpc>
                <a:spcPts val="1425"/>
              </a:lnSpc>
              <a:buNone/>
            </a:pPr>
            <a:endParaRPr lang="th-TH" sz="2400" dirty="0">
              <a:solidFill>
                <a:srgbClr val="FF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     sort: '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asc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’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FF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     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mysort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dsc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’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FF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th-TH" sz="240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383A42"/>
                </a:solidFill>
                <a:latin typeface="Consolas" panose="020B0609020204030204" pitchFamily="49" charset="0"/>
              </a:rPr>
              <a:t>    }</a:t>
            </a:r>
          </a:p>
          <a:p>
            <a:pPr>
              <a:lnSpc>
                <a:spcPts val="1425"/>
              </a:lnSpc>
              <a:buNone/>
            </a:pPr>
            <a:endParaRPr lang="th-TH" sz="240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383A42"/>
                </a:solidFill>
                <a:latin typeface="Consolas" panose="020B0609020204030204" pitchFamily="49" charset="0"/>
              </a:rPr>
              <a:t>  }"</a:t>
            </a: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383A42"/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endParaRPr lang="th-TH" sz="240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383A42"/>
                </a:solidFill>
                <a:latin typeface="Consolas" panose="020B0609020204030204" pitchFamily="49" charset="0"/>
              </a:rPr>
              <a:t>  Shoe Products</a:t>
            </a:r>
          </a:p>
          <a:p>
            <a:pPr>
              <a:lnSpc>
                <a:spcPts val="1425"/>
              </a:lnSpc>
              <a:buNone/>
            </a:pPr>
            <a:endParaRPr lang="th-TH" sz="240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th-TH" sz="240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383A42"/>
                </a:solidFill>
                <a:latin typeface="Consolas" panose="020B0609020204030204" pitchFamily="49" charset="0"/>
              </a:rPr>
              <a:t>&lt;/</a:t>
            </a:r>
            <a:r>
              <a:rPr lang="en-US" sz="2400" dirty="0" err="1">
                <a:solidFill>
                  <a:srgbClr val="383A42"/>
                </a:solidFill>
                <a:latin typeface="Consolas" panose="020B0609020204030204" pitchFamily="49" charset="0"/>
              </a:rPr>
              <a:t>RouterLink</a:t>
            </a:r>
            <a:r>
              <a:rPr lang="en-US" sz="2400" dirty="0">
                <a:solidFill>
                  <a:srgbClr val="383A42"/>
                </a:solidFill>
                <a:latin typeface="Consolas" panose="020B0609020204030204" pitchFamily="49" charset="0"/>
              </a:rPr>
              <a:t>&gt;</a:t>
            </a:r>
            <a:endParaRPr lang="th-TH" sz="240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63F7F3-C009-BA08-6A3E-85A72DD106C7}"/>
              </a:ext>
            </a:extLst>
          </p:cNvPr>
          <p:cNvSpPr txBox="1"/>
          <p:nvPr/>
        </p:nvSpPr>
        <p:spPr>
          <a:xfrm>
            <a:off x="5788523" y="144835"/>
            <a:ext cx="622080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00B0F0"/>
                </a:solidFill>
              </a:rPr>
              <a:t>createRouter</a:t>
            </a:r>
            <a:r>
              <a:rPr lang="en-US" sz="2400" dirty="0">
                <a:solidFill>
                  <a:srgbClr val="00B0F0"/>
                </a:solidFill>
              </a:rPr>
              <a:t>( {</a:t>
            </a:r>
          </a:p>
          <a:p>
            <a:r>
              <a:rPr lang="th-TH" sz="2400" b="1" dirty="0"/>
              <a:t>    </a:t>
            </a:r>
            <a:r>
              <a:rPr lang="en-US" sz="2400" b="1" dirty="0"/>
              <a:t>route:</a:t>
            </a:r>
            <a:r>
              <a:rPr lang="th-TH" sz="2400" b="1" dirty="0"/>
              <a:t>    </a:t>
            </a:r>
          </a:p>
          <a:p>
            <a:r>
              <a:rPr lang="th-TH" sz="2400" b="1" dirty="0"/>
              <a:t> 	</a:t>
            </a:r>
            <a:r>
              <a:rPr lang="en-US" sz="2400" b="1" dirty="0"/>
              <a:t>{</a:t>
            </a:r>
          </a:p>
          <a:p>
            <a:r>
              <a:rPr lang="en-US" sz="2400" b="1" dirty="0"/>
              <a:t> </a:t>
            </a:r>
            <a:r>
              <a:rPr lang="th-TH" sz="2400" b="1" dirty="0"/>
              <a:t> </a:t>
            </a:r>
            <a:r>
              <a:rPr lang="en-US" sz="2400" b="1" dirty="0"/>
              <a:t> </a:t>
            </a:r>
            <a:r>
              <a:rPr lang="th-TH" sz="2400" b="1" dirty="0"/>
              <a:t>		</a:t>
            </a:r>
            <a:r>
              <a:rPr lang="en-US" sz="2400" b="1" dirty="0"/>
              <a:t>path: '/</a:t>
            </a:r>
            <a:r>
              <a:rPr lang="en-US" sz="2400" dirty="0"/>
              <a:t>products</a:t>
            </a:r>
            <a:r>
              <a:rPr lang="en-US" sz="2400" b="1" dirty="0"/>
              <a:t>',</a:t>
            </a:r>
          </a:p>
          <a:p>
            <a:r>
              <a:rPr lang="en-US" sz="2400" b="1" dirty="0"/>
              <a:t>  </a:t>
            </a:r>
            <a:r>
              <a:rPr lang="th-TH" sz="2400" b="1" dirty="0"/>
              <a:t> 		</a:t>
            </a:r>
            <a:r>
              <a:rPr lang="en-US" sz="2400" b="1" dirty="0">
                <a:solidFill>
                  <a:srgbClr val="00B050"/>
                </a:solidFill>
              </a:rPr>
              <a:t>name: '</a:t>
            </a:r>
            <a:r>
              <a:rPr lang="en-US" sz="2400" dirty="0">
                <a:solidFill>
                  <a:srgbClr val="00B050"/>
                </a:solidFill>
              </a:rPr>
              <a:t>products </a:t>
            </a:r>
            <a:r>
              <a:rPr lang="en-US" sz="2400" b="1" dirty="0">
                <a:solidFill>
                  <a:srgbClr val="00B050"/>
                </a:solidFill>
              </a:rPr>
              <a:t>',</a:t>
            </a:r>
          </a:p>
          <a:p>
            <a:r>
              <a:rPr lang="en-US" sz="2400" b="1" dirty="0"/>
              <a:t>  </a:t>
            </a:r>
            <a:r>
              <a:rPr lang="th-TH" sz="2400" b="1" dirty="0"/>
              <a:t> 		</a:t>
            </a:r>
            <a:r>
              <a:rPr lang="en-US" sz="2400" b="1" dirty="0"/>
              <a:t>component: </a:t>
            </a:r>
            <a:r>
              <a:rPr lang="en-US" sz="2400" b="1" dirty="0" err="1"/>
              <a:t>ProductList</a:t>
            </a:r>
            <a:endParaRPr lang="en-US" sz="2400" b="1" dirty="0"/>
          </a:p>
          <a:p>
            <a:r>
              <a:rPr lang="th-TH" sz="2400" b="1" dirty="0"/>
              <a:t>	</a:t>
            </a:r>
            <a:r>
              <a:rPr lang="en-US" sz="2400" b="1" dirty="0"/>
              <a:t>},</a:t>
            </a:r>
          </a:p>
          <a:p>
            <a:endParaRPr lang="en-US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EB93BE-CE11-C2E6-8D4D-70190899B986}"/>
              </a:ext>
            </a:extLst>
          </p:cNvPr>
          <p:cNvSpPr txBox="1"/>
          <p:nvPr/>
        </p:nvSpPr>
        <p:spPr>
          <a:xfrm>
            <a:off x="1112111" y="6086396"/>
            <a:ext cx="93911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&lt;a </a:t>
            </a:r>
            <a:r>
              <a:rPr lang="en-US" sz="2400" dirty="0" err="1"/>
              <a:t>href</a:t>
            </a:r>
            <a:r>
              <a:rPr lang="en-US" sz="2400" dirty="0"/>
              <a:t>=" /</a:t>
            </a:r>
            <a:r>
              <a:rPr lang="en-US" sz="2400" dirty="0" err="1"/>
              <a:t>products?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00"/>
                </a:highlight>
              </a:rPr>
              <a:t>category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=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00"/>
                </a:highlight>
              </a:rPr>
              <a:t>shoe&amp;sort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=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00"/>
                </a:highlight>
              </a:rPr>
              <a:t>asc&amp;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mysort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dsc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sz="2400" dirty="0"/>
              <a:t>" &gt; </a:t>
            </a:r>
            <a:r>
              <a:rPr lang="en-US" sz="2400" dirty="0">
                <a:solidFill>
                  <a:srgbClr val="383A42"/>
                </a:solidFill>
                <a:latin typeface="Consolas" panose="020B0609020204030204" pitchFamily="49" charset="0"/>
              </a:rPr>
              <a:t>Shoe Products</a:t>
            </a:r>
            <a:r>
              <a:rPr lang="en-US" sz="2400" dirty="0"/>
              <a:t> &lt;/a&gt;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D47DDF-5678-4EE6-9AD5-C5B838E5AC43}"/>
              </a:ext>
            </a:extLst>
          </p:cNvPr>
          <p:cNvSpPr txBox="1"/>
          <p:nvPr/>
        </p:nvSpPr>
        <p:spPr>
          <a:xfrm>
            <a:off x="1025611" y="-26953"/>
            <a:ext cx="38759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component: </a:t>
            </a:r>
            <a:r>
              <a:rPr lang="en-US" sz="2400" b="1" dirty="0" err="1"/>
              <a:t>ProductList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3F36A0-0CC3-0C8C-D2C5-EB67C989893E}"/>
              </a:ext>
            </a:extLst>
          </p:cNvPr>
          <p:cNvSpPr txBox="1"/>
          <p:nvPr/>
        </p:nvSpPr>
        <p:spPr>
          <a:xfrm>
            <a:off x="7324479" y="2994105"/>
            <a:ext cx="4163598" cy="28623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const router = </a:t>
            </a:r>
            <a:r>
              <a:rPr lang="en-US" sz="2000" b="1" dirty="0" err="1"/>
              <a:t>useRouter</a:t>
            </a:r>
            <a:r>
              <a:rPr lang="en-US" sz="2000" b="1" dirty="0"/>
              <a:t>()</a:t>
            </a:r>
          </a:p>
          <a:p>
            <a:endParaRPr lang="en-US" sz="2000" b="1" dirty="0"/>
          </a:p>
          <a:p>
            <a:r>
              <a:rPr lang="en-US" sz="2000" b="1" dirty="0" err="1"/>
              <a:t>router.push</a:t>
            </a:r>
            <a:r>
              <a:rPr lang="en-US" sz="2000" b="1" dirty="0"/>
              <a:t>({</a:t>
            </a:r>
          </a:p>
          <a:p>
            <a:r>
              <a:rPr lang="en-US" sz="2000" b="1" dirty="0"/>
              <a:t>  </a:t>
            </a:r>
            <a:r>
              <a:rPr lang="en-US" sz="2000" b="1" dirty="0">
                <a:solidFill>
                  <a:srgbClr val="00B050"/>
                </a:solidFill>
              </a:rPr>
              <a:t>name: 'products',</a:t>
            </a:r>
          </a:p>
          <a:p>
            <a:r>
              <a:rPr lang="en-US" sz="2000" b="1" dirty="0"/>
              <a:t>  </a:t>
            </a:r>
            <a:r>
              <a:rPr lang="en-US" sz="2000" b="1" dirty="0">
                <a:solidFill>
                  <a:schemeClr val="accent1"/>
                </a:solidFill>
              </a:rPr>
              <a:t>query</a:t>
            </a:r>
            <a:r>
              <a:rPr lang="en-US" sz="2000" b="1" dirty="0"/>
              <a:t>: {</a:t>
            </a:r>
          </a:p>
          <a:p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</a:rPr>
              <a:t>    category: 'shoe',</a:t>
            </a:r>
          </a:p>
          <a:p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</a:rPr>
              <a:t>    sort: '</a:t>
            </a:r>
            <a:r>
              <a:rPr lang="en-US" sz="2000" b="1" dirty="0" err="1">
                <a:solidFill>
                  <a:srgbClr val="FF0000"/>
                </a:solidFill>
                <a:highlight>
                  <a:srgbClr val="FFFF00"/>
                </a:highlight>
              </a:rPr>
              <a:t>asc</a:t>
            </a: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</a:rPr>
              <a:t>'</a:t>
            </a:r>
          </a:p>
          <a:p>
            <a:r>
              <a:rPr lang="en-US" sz="2000" b="1" dirty="0"/>
              <a:t>  }</a:t>
            </a:r>
          </a:p>
          <a:p>
            <a:r>
              <a:rPr lang="en-US" sz="2000" b="1" dirty="0"/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3939177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A68AA-89DC-05F0-B3D2-11A1AE831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86" y="-141503"/>
            <a:ext cx="12074613" cy="950338"/>
          </a:xfrm>
        </p:spPr>
        <p:txBody>
          <a:bodyPr>
            <a:normAutofit/>
          </a:bodyPr>
          <a:lstStyle/>
          <a:p>
            <a:r>
              <a:rPr lang="th-TH" sz="3600" dirty="0">
                <a:solidFill>
                  <a:srgbClr val="FF0000"/>
                </a:solidFill>
              </a:rPr>
              <a:t>การอ้างถึงข้อมูล</a:t>
            </a:r>
            <a:r>
              <a:rPr lang="en-US" sz="3600" dirty="0">
                <a:solidFill>
                  <a:srgbClr val="FF0000"/>
                </a:solidFill>
              </a:rPr>
              <a:t> parameter </a:t>
            </a:r>
            <a:r>
              <a:rPr lang="th-TH" sz="3600" dirty="0">
                <a:solidFill>
                  <a:srgbClr val="FF0000"/>
                </a:solidFill>
              </a:rPr>
              <a:t>ที่ส่งแบบ</a:t>
            </a:r>
            <a:r>
              <a:rPr lang="en-US" sz="3600" dirty="0">
                <a:solidFill>
                  <a:srgbClr val="FF0000"/>
                </a:solidFill>
              </a:rPr>
              <a:t> query</a:t>
            </a:r>
            <a:r>
              <a:rPr lang="th-TH" sz="3600" dirty="0">
                <a:solidFill>
                  <a:srgbClr val="FF0000"/>
                </a:solidFill>
              </a:rPr>
              <a:t> </a:t>
            </a:r>
            <a:r>
              <a:rPr lang="en-US" sz="3600" dirty="0">
                <a:solidFill>
                  <a:srgbClr val="FF0000"/>
                </a:solidFill>
              </a:rPr>
              <a:t>string</a:t>
            </a:r>
            <a:r>
              <a:rPr lang="th-TH" sz="3600" dirty="0">
                <a:solidFill>
                  <a:srgbClr val="FF0000"/>
                </a:solidFill>
              </a:rPr>
              <a:t> ที่</a:t>
            </a:r>
            <a:r>
              <a:rPr lang="en-US" sz="3600" dirty="0">
                <a:solidFill>
                  <a:srgbClr val="FF0000"/>
                </a:solidFill>
              </a:rPr>
              <a:t> child component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27A298-CCBF-7EF5-7D41-9C775B166BBB}"/>
              </a:ext>
            </a:extLst>
          </p:cNvPr>
          <p:cNvSpPr txBox="1"/>
          <p:nvPr/>
        </p:nvSpPr>
        <p:spPr>
          <a:xfrm>
            <a:off x="396446" y="1254584"/>
            <a:ext cx="5699554" cy="42559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th-TH" sz="240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383A42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383A42"/>
                </a:solidFill>
                <a:latin typeface="Consolas" panose="020B0609020204030204" pitchFamily="49" charset="0"/>
              </a:rPr>
              <a:t>RouterLink</a:t>
            </a:r>
            <a:endParaRPr lang="th-TH" sz="240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383A42"/>
                </a:solidFill>
                <a:latin typeface="Consolas" panose="020B0609020204030204" pitchFamily="49" charset="0"/>
              </a:rPr>
              <a:t>  :to="{</a:t>
            </a:r>
          </a:p>
          <a:p>
            <a:pPr>
              <a:lnSpc>
                <a:spcPts val="1425"/>
              </a:lnSpc>
              <a:buNone/>
            </a:pPr>
            <a:endParaRPr lang="th-TH" sz="240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    name: 'products',</a:t>
            </a:r>
          </a:p>
          <a:p>
            <a:pPr>
              <a:lnSpc>
                <a:spcPts val="1425"/>
              </a:lnSpc>
              <a:buNone/>
            </a:pPr>
            <a:endParaRPr lang="th-TH" sz="240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383A42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B0F0"/>
                </a:solidFill>
                <a:latin typeface="Consolas" panose="020B0609020204030204" pitchFamily="49" charset="0"/>
              </a:rPr>
              <a:t>query</a:t>
            </a:r>
            <a:r>
              <a:rPr lang="en-US" sz="2400" dirty="0">
                <a:solidFill>
                  <a:srgbClr val="383A42"/>
                </a:solidFill>
                <a:latin typeface="Consolas" panose="020B0609020204030204" pitchFamily="49" charset="0"/>
              </a:rPr>
              <a:t>: {</a:t>
            </a:r>
          </a:p>
          <a:p>
            <a:pPr>
              <a:lnSpc>
                <a:spcPts val="1425"/>
              </a:lnSpc>
              <a:buNone/>
            </a:pPr>
            <a:endParaRPr lang="th-TH" sz="240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     category: 'shoe’,</a:t>
            </a:r>
          </a:p>
          <a:p>
            <a:pPr>
              <a:lnSpc>
                <a:spcPts val="1425"/>
              </a:lnSpc>
              <a:buNone/>
            </a:pPr>
            <a:endParaRPr lang="th-TH" sz="2400" dirty="0">
              <a:solidFill>
                <a:srgbClr val="FF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     sort: '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asc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'</a:t>
            </a:r>
          </a:p>
          <a:p>
            <a:pPr>
              <a:lnSpc>
                <a:spcPts val="1425"/>
              </a:lnSpc>
              <a:buNone/>
            </a:pPr>
            <a:endParaRPr lang="th-TH" sz="240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383A42"/>
                </a:solidFill>
                <a:latin typeface="Consolas" panose="020B0609020204030204" pitchFamily="49" charset="0"/>
              </a:rPr>
              <a:t>    }</a:t>
            </a:r>
          </a:p>
          <a:p>
            <a:pPr>
              <a:lnSpc>
                <a:spcPts val="1425"/>
              </a:lnSpc>
              <a:buNone/>
            </a:pPr>
            <a:endParaRPr lang="th-TH" sz="240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383A42"/>
                </a:solidFill>
                <a:latin typeface="Consolas" panose="020B0609020204030204" pitchFamily="49" charset="0"/>
              </a:rPr>
              <a:t>  }"</a:t>
            </a: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383A42"/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endParaRPr lang="th-TH" sz="240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383A42"/>
                </a:solidFill>
                <a:latin typeface="Consolas" panose="020B0609020204030204" pitchFamily="49" charset="0"/>
              </a:rPr>
              <a:t>  Shoe Products</a:t>
            </a:r>
          </a:p>
          <a:p>
            <a:pPr>
              <a:lnSpc>
                <a:spcPts val="1425"/>
              </a:lnSpc>
              <a:buNone/>
            </a:pPr>
            <a:endParaRPr lang="th-TH" sz="240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th-TH" sz="240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383A42"/>
                </a:solidFill>
                <a:latin typeface="Consolas" panose="020B0609020204030204" pitchFamily="49" charset="0"/>
              </a:rPr>
              <a:t>&lt;/</a:t>
            </a:r>
            <a:r>
              <a:rPr lang="en-US" sz="2400" dirty="0" err="1">
                <a:solidFill>
                  <a:srgbClr val="383A42"/>
                </a:solidFill>
                <a:latin typeface="Consolas" panose="020B0609020204030204" pitchFamily="49" charset="0"/>
              </a:rPr>
              <a:t>RouterLink</a:t>
            </a:r>
            <a:r>
              <a:rPr lang="en-US" sz="2400" dirty="0">
                <a:solidFill>
                  <a:srgbClr val="383A42"/>
                </a:solidFill>
                <a:latin typeface="Consolas" panose="020B0609020204030204" pitchFamily="49" charset="0"/>
              </a:rPr>
              <a:t>&gt;</a:t>
            </a:r>
            <a:endParaRPr lang="th-TH" sz="240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43EB00-615D-BACF-919C-A3B31DB42012}"/>
              </a:ext>
            </a:extLst>
          </p:cNvPr>
          <p:cNvSpPr txBox="1"/>
          <p:nvPr/>
        </p:nvSpPr>
        <p:spPr>
          <a:xfrm>
            <a:off x="6373006" y="2014834"/>
            <a:ext cx="5131135" cy="341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import { </a:t>
            </a:r>
            <a:r>
              <a:rPr lang="en-US" b="1" dirty="0" err="1"/>
              <a:t>useRoute</a:t>
            </a:r>
            <a:r>
              <a:rPr lang="en-US" b="1" dirty="0"/>
              <a:t> } from '</a:t>
            </a:r>
            <a:r>
              <a:rPr lang="en-US" b="1" dirty="0" err="1"/>
              <a:t>vue</a:t>
            </a:r>
            <a:r>
              <a:rPr lang="en-US" b="1" dirty="0"/>
              <a:t>-router’</a:t>
            </a:r>
          </a:p>
          <a:p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const </a:t>
            </a:r>
            <a:r>
              <a:rPr lang="en-US" b="1" dirty="0" err="1">
                <a:solidFill>
                  <a:srgbClr val="FF0000"/>
                </a:solidFill>
              </a:rPr>
              <a:t>routeparm</a:t>
            </a:r>
            <a:r>
              <a:rPr lang="en-US" b="1" dirty="0">
                <a:solidFill>
                  <a:srgbClr val="FF0000"/>
                </a:solidFill>
              </a:rPr>
              <a:t> = </a:t>
            </a:r>
            <a:r>
              <a:rPr lang="en-US" b="1" dirty="0" err="1">
                <a:solidFill>
                  <a:srgbClr val="FF0000"/>
                </a:solidFill>
              </a:rPr>
              <a:t>useRoute</a:t>
            </a:r>
            <a:r>
              <a:rPr lang="en-US" b="1" dirty="0">
                <a:solidFill>
                  <a:srgbClr val="FF0000"/>
                </a:solidFill>
              </a:rPr>
              <a:t>()</a:t>
            </a:r>
          </a:p>
          <a:p>
            <a:endParaRPr lang="en-US" b="1" dirty="0"/>
          </a:p>
          <a:p>
            <a:r>
              <a:rPr lang="en-US" b="1" dirty="0"/>
              <a:t>function </a:t>
            </a:r>
            <a:r>
              <a:rPr lang="en-US" b="1" dirty="0" err="1"/>
              <a:t>getProductFilter</a:t>
            </a:r>
            <a:r>
              <a:rPr lang="en-US" b="1" dirty="0"/>
              <a:t> () {</a:t>
            </a:r>
          </a:p>
          <a:p>
            <a:endParaRPr lang="en-US" b="1" dirty="0"/>
          </a:p>
          <a:p>
            <a:r>
              <a:rPr lang="en-US" b="1" dirty="0"/>
              <a:t>  const </a:t>
            </a:r>
            <a:r>
              <a:rPr lang="en-US" b="1" dirty="0" err="1"/>
              <a:t>categoryOpt</a:t>
            </a:r>
            <a:r>
              <a:rPr lang="en-US" b="1" dirty="0"/>
              <a:t> = </a:t>
            </a:r>
            <a:r>
              <a:rPr lang="en-US" b="1" dirty="0" err="1">
                <a:solidFill>
                  <a:srgbClr val="FF0000"/>
                </a:solidFill>
              </a:rPr>
              <a:t>routeparm</a:t>
            </a:r>
            <a:r>
              <a:rPr lang="en-US" b="1" dirty="0" err="1"/>
              <a:t>.</a:t>
            </a:r>
            <a:r>
              <a:rPr lang="en-US" b="1" dirty="0" err="1">
                <a:solidFill>
                  <a:schemeClr val="accent1"/>
                </a:solidFill>
                <a:highlight>
                  <a:srgbClr val="FFFF00"/>
                </a:highlight>
              </a:rPr>
              <a:t>query</a:t>
            </a:r>
            <a:r>
              <a:rPr lang="en-US" b="1" dirty="0" err="1">
                <a:solidFill>
                  <a:srgbClr val="FF0000"/>
                </a:solidFill>
                <a:highlight>
                  <a:srgbClr val="FFFF00"/>
                </a:highlight>
              </a:rPr>
              <a:t>.category</a:t>
            </a:r>
            <a:endParaRPr lang="en-US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en-US" b="1" dirty="0"/>
          </a:p>
          <a:p>
            <a:r>
              <a:rPr lang="en-US" b="1" dirty="0"/>
              <a:t>  const </a:t>
            </a:r>
            <a:r>
              <a:rPr lang="en-US" b="1" dirty="0" err="1"/>
              <a:t>sortOpt</a:t>
            </a:r>
            <a:r>
              <a:rPr lang="en-US" b="1" dirty="0"/>
              <a:t> = </a:t>
            </a:r>
            <a:r>
              <a:rPr lang="en-US" b="1" dirty="0" err="1">
                <a:solidFill>
                  <a:srgbClr val="FF0000"/>
                </a:solidFill>
              </a:rPr>
              <a:t>routeparm</a:t>
            </a:r>
            <a:r>
              <a:rPr lang="en-US" b="1" dirty="0" err="1"/>
              <a:t>.</a:t>
            </a:r>
            <a:r>
              <a:rPr lang="en-US" b="1" dirty="0" err="1">
                <a:solidFill>
                  <a:schemeClr val="accent1"/>
                </a:solidFill>
                <a:highlight>
                  <a:srgbClr val="FFFF00"/>
                </a:highlight>
              </a:rPr>
              <a:t>query</a:t>
            </a:r>
            <a:r>
              <a:rPr lang="en-US" b="1" dirty="0" err="1">
                <a:solidFill>
                  <a:srgbClr val="FF0000"/>
                </a:solidFill>
                <a:highlight>
                  <a:srgbClr val="FFFF00"/>
                </a:highlight>
              </a:rPr>
              <a:t>.sort</a:t>
            </a:r>
            <a:endParaRPr lang="en-US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  count name = routeparm.name</a:t>
            </a:r>
          </a:p>
          <a:p>
            <a:endParaRPr lang="en-US" b="1" dirty="0"/>
          </a:p>
          <a:p>
            <a:r>
              <a:rPr lang="en-US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68496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5098</TotalTime>
  <Words>599</Words>
  <Application>Microsoft Office PowerPoint</Application>
  <PresentationFormat>Widescreen</PresentationFormat>
  <Paragraphs>121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Consolas</vt:lpstr>
      <vt:lpstr>Office Theme</vt:lpstr>
      <vt:lpstr> (ตอน:การใช้ Query string Parameter )</vt:lpstr>
      <vt:lpstr>โจทย์ :</vt:lpstr>
      <vt:lpstr>แนวทางในการออกแบบโปรแกรม</vt:lpstr>
      <vt:lpstr>การส่ง parameter ของ vue</vt:lpstr>
      <vt:lpstr>หลักในการใช้ Path &amp; Query String parameter</vt:lpstr>
      <vt:lpstr>PowerPoint Presentation</vt:lpstr>
      <vt:lpstr>การอ้างถึงข้อมูล parameter ที่ส่งแบบ query string ที่ child component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rapirak jirayu</dc:creator>
  <cp:lastModifiedBy>rapirak jirayu</cp:lastModifiedBy>
  <cp:revision>162</cp:revision>
  <dcterms:created xsi:type="dcterms:W3CDTF">2026-05-16T02:50:47Z</dcterms:created>
  <dcterms:modified xsi:type="dcterms:W3CDTF">2026-06-22T01:26:15Z</dcterms:modified>
</cp:coreProperties>
</file>