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327" r:id="rId6"/>
    <p:sldId id="325" r:id="rId7"/>
    <p:sldId id="326" r:id="rId8"/>
    <p:sldId id="330" r:id="rId9"/>
    <p:sldId id="332" r:id="rId10"/>
    <p:sldId id="33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27"/>
            <p14:sldId id="325"/>
            <p14:sldId id="326"/>
            <p14:sldId id="330"/>
            <p14:sldId id="332"/>
            <p14:sldId id="331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3039" autoAdjust="0"/>
  </p:normalViewPr>
  <p:slideViewPr>
    <p:cSldViewPr snapToGrid="0">
      <p:cViewPr varScale="1">
        <p:scale>
          <a:sx n="79" d="100"/>
          <a:sy n="79" d="100"/>
        </p:scale>
        <p:origin x="1692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19/05/2026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19/05/2026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9AF3-0761-AA48-EA41-9B4640C7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87E49-AE16-8FE8-A5D4-7B604D5DB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6573A-16B7-0B66-10E5-442D76BE6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"name":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"version": "0.0.0",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"private": true,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"type": "module",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"scripts":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"dev":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--host",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"build":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--base ./",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"preview":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--host"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"dependencies":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"^3.3.11",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pinia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"^3.0.0"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devDependencies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"@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/plugin-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"^4.5.2",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"^5.0.10"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CEAF2-ACF3-EA60-D850-012EBABC8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5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E14CA-418E-AFC5-C3D3-BD610248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07349-2825-0F02-1485-DBFDD8AAB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1C851-947A-D79C-EBF0-CF0F15CE2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"name":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"version": "0.0.0",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"private": true,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"type": "module",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"scripts":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"dev":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--host",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"build":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--base ./",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"preview":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--host"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"dependencies":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"^3.3.11",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pinia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"^3.0.0"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devDependencies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"@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/plugin-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"^4.5.2",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"^5.0.10"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3DA3-7E41-FB0B-EA8B-A7D80188B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84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78D4-FE41-721E-4ACE-22231CFB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70D75-3C9C-B912-AA32-313B5CE21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8F9B1-7B28-1577-F7F9-173B1466C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"name":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"version": "0.0.0",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"private": true,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"type": "module",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"scripts":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"dev":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--host",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"build":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--base ./",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"preview":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--host"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"dependencies":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"^3.3.11",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pinia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"^3.0.0"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devDependencies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"@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/plugin-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"^4.5.2",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"^5.0.10"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C352A-7C3C-E562-B1EA-2379BAC89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855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B43CB-EBC4-9057-E535-128E6D33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F6864-F464-1A97-CA19-C999077B8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F75B2-D863-61D6-3604-C30644EFC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"name":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"version": "0.0.0",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"private": true,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"type": "module",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"scripts":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"dev":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--host",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"build":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--base ./",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"preview":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--host"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"dependencies":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"^3.3.11",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pinia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"^3.0.0"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devDependencies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"@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/plugin-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"^4.5.2",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"^5.0.10"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DE959-8AF4-688F-65CA-8E8FBE6A4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627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4E333-8FBF-0E0D-514D-9760EEEE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21677-1539-CFDA-FC9A-79026EF32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0AD07-F2BA-F5EC-7EB9-3A78C9551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pinia.vuejs.org/#eNq1Vt2O0zgUfhUrArUjpjZtYVYa2lG7Ky52L3bRzmqvckEmOe0YEjtynFKp6g03IN6Fa4a36aNwbMeeNEOHIuCiTXx+vvOdPyubaF6WdFVDdB5NqlTxUpMKdF1exIIXpVSa/CHxKUDoOSELJQvSo8zI5satF4sJc37ogQcNRZknGvBEyKTly1AyYS11LKLTyMUYFElJX1VSIIuNcYwbRRVH58RKjAzjmXMcXWtdVueMpZlAtwxyvlJUgGaiLNgMzZiqheYFDDJZzMb0KR2PWcYr3ZZTqIrBlZJvKlCIEkenrTgMhStQAwUiAwXq2Lgdt73YHd3h+CUXPHERmX0/bGqDZrDSUubVICn5sUTbPrMzekaHLOdXDAMxjvzWdyoyyKA4Bt2bzh7T4RP6m0VdjRvQwqAa0G0stth+XaVSLPiy0/wUx4bnoP4pNZdifwiSPJdv/rIyrWoIFNNrSF9/Rf6qWjvWLxTYDrTS0olagnbq55d/wxrfg7KQWZ03A3dA+S9UMq8NR2f2ey0ypN2ys2z/tLPMxfK/6vlag6h8UoaorYa1t2U2G3Mo9Vu6YzpuVTEpy0stFWAVsYbN2m5IBgsuwGrItlldO064tMFIwSIo3T7HAtZWia2pNPHgZNoG7PdSiasEat47Jf0TMr1wNJ2P1aEDgvcfnzwzikUtUpMR4SJVUOCVgF5NZtacrpK8hkePrDUmRtBb10rsGTV1DRh4NDU4MaztfRIupsP32eY2JZ84ZV70rdK4/CpjOh9iht6vb7JsK0ddpVevEjUk7doE8WhPHItQskxeygL0NU7QC9O//xPli8cX/UBmOvWxQ2VdQ2QONJfLPo7QkDbm9AHPMNxDs+U+Hys7eUYIY7ubD7ubT7vP73c3H3c3b+3/O/Q3lktcigPwowZ+9BV4Jzse3s5AB38c6PsRe5i1E3DS42N04J8E+gF+L4HvhTc/T60197a7d4I//bW5nf3U3HDpDo1omM5mPu3Am+E0I35gMl8Ocf2NGXmwMS/bl+7WuGM3MnZmt6ydOeGl4a23tuBNSKcKgd3x/vDehfQciwa9dz+Zjpfn5L0MKfO8BWzuuDvt36Pget8S/UDj91gGYC/6zpbf97l3PboIX3xkTiYMBVZxVWuNUzJLc56+nsZRd1zi6KIzQujsnBoA9U2g26uxg+YVe5Cdj9Fo+wVozuZ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3B0BB-8DAF-1239-9B6C-8F40463F2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30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pinia.vuejs.org/#eNqVVs1y00gQfpUp1W7ZqdgzCYawm7VdthYOcACKcNTFkdrOgDSjmhkZV6Vy4QLFu3DGvI0fhZ4ZWZGETMzFtrr7+/rrP5Vvg3me03UBwWUw1rHiuSEaTJFPI8GzXCpD/pf4LUCYOSFLJTPSo8za5hbWi8SYeRwi8MFAlqcLA/hEyLiGZWgZs5o7EsEg8DmG2SKn77UUqOLWAqPSoaPgkjiLtWE++xwFN8bk+pKxOBEISyDla0UFGCbyjM0wjKlCGJ7BMJHZbESf0NGIJVybup2CzobXSn7UoJAlCga1PAyNa1BDBSIBBerYvC1YI3fLdzh/zgVf+IzM/T4c6pImsDZSpnq4yPmxQuuY2QW9oOcs5dcMEzGO+ja/dGSYQHYM+z50dkbPH9OnjnU9Kkkzy2pJ7yJxh+M3OpZiyVet4ce4NjwF9To3XIrmEizSVH586WxGFVBJjG8g/tBhf683XvUbBW4CtbLMQq3AePfzq1ewwd+VM5NJkZYLd8D5FrRMC6vRh4WFSFB2Lc6pfeF2mYvVO/18Y0DofVFWqOuGi3dtthdzqPR7uSM6qnVxkedXRirALmIPy7O9JQksuQDnIXfl6bp1wqOtghQsB8T2uzCQVGH+siMBGxeGQ9KGFBrwZeH45mRSp+/3YomHBWreG5D+CZlMvWiPcz6LwFz9sxPrWBYitvURLmIFmX1BIKws1MfT9SIt4PS0rJMg2hRKNIPKPt+zOINtC6Y5LD/8Y/kW4eWTbv1hS394jP6wrd8bKv042+pNe/gFfduYzKBR536glO2XxM3VV6b3o6zj+5i55g5J0491WoJIVC14Jq9kBu9ucL/nZRdsEXzZ3/NPJiWXm/19BwReD9BUrvqkd04bPGQ4reRVcNIjJ/91gH0g/Ysn6CeEsd326277fffjy277bbf95D4/4wHZwBWe9CGOsORwQ8BB2++SvL6ozt+U/4iWcdWy/530Bk1bF27kcWEHrrJ14EjvcQNo17MNDDsTPmkIbeAqm8e1+c86rY3n00bBHdl32+3F0QKa0KdHF1zaHpgYSvnnQSndQ/v3QSkljrFfxOCFoAcv/Pd/nG4eTav/TmROxgwNznFdGINHN4tTHn+YREHr+qJg2jxIhHqIhbf+gQV3PwGY7WF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9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19/05/2026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19/05/2026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nia.vuejs.org/introductio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619" y="1309041"/>
            <a:ext cx="10962373" cy="1167459"/>
          </a:xfrm>
        </p:spPr>
        <p:txBody>
          <a:bodyPr anchor="ctr" anchorCtr="0">
            <a:noAutofit/>
          </a:bodyPr>
          <a:lstStyle/>
          <a:p>
            <a:pPr algn="ctr"/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sz="5400" b="1" dirty="0" err="1">
                <a:solidFill>
                  <a:schemeClr val="bg2">
                    <a:lumMod val="10000"/>
                  </a:schemeClr>
                </a:solidFill>
              </a:rPr>
              <a:t>Pinia</a:t>
            </a:r>
            <a:r>
              <a:rPr lang="en-US" sz="5400" b="1" dirty="0">
                <a:solidFill>
                  <a:schemeClr val="bg2">
                    <a:lumMod val="10000"/>
                  </a:schemeClr>
                </a:solidFill>
              </a:rPr>
              <a:t> library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br>
              <a:rPr lang="en-US" sz="5400" b="1" dirty="0">
                <a:solidFill>
                  <a:schemeClr val="bg1"/>
                </a:solidFill>
              </a:rPr>
            </a:br>
            <a:endParaRPr lang="en-US" sz="54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6B6D56-4D2B-F7A8-4BD9-DDE618484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48" y="4978384"/>
            <a:ext cx="2333704" cy="933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15BEFB-BE32-C483-381B-14003D7A30D1}"/>
              </a:ext>
            </a:extLst>
          </p:cNvPr>
          <p:cNvSpPr txBox="1"/>
          <p:nvPr/>
        </p:nvSpPr>
        <p:spPr>
          <a:xfrm>
            <a:off x="1384300" y="2686735"/>
            <a:ext cx="9652000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th-TH" sz="4800" b="1" dirty="0">
                <a:solidFill>
                  <a:srgbClr val="00B050"/>
                </a:solidFill>
              </a:rPr>
              <a:t>สามารถฝึกปฏิบัติแบบออนไลน์จาก </a:t>
            </a:r>
            <a:r>
              <a:rPr lang="en-US" sz="4800" b="1" dirty="0">
                <a:solidFill>
                  <a:srgbClr val="00B050"/>
                </a:solidFill>
              </a:rPr>
              <a:t>source code </a:t>
            </a:r>
            <a:endParaRPr lang="th-TH" sz="4800" b="1" dirty="0">
              <a:solidFill>
                <a:srgbClr val="00B050"/>
              </a:solidFill>
            </a:endParaRPr>
          </a:p>
          <a:p>
            <a:r>
              <a:rPr lang="th-TH" sz="4800" b="1" dirty="0">
                <a:solidFill>
                  <a:srgbClr val="00B050"/>
                </a:solidFill>
              </a:rPr>
              <a:t>ผ่านลิงก์ในคำอธิบายใต้คลิป </a:t>
            </a:r>
            <a:r>
              <a:rPr lang="en-US" sz="4800" b="1" dirty="0">
                <a:solidFill>
                  <a:srgbClr val="00B050"/>
                </a:solidFill>
              </a:rPr>
              <a:t>YouTube</a:t>
            </a:r>
            <a:endParaRPr lang="en-US" sz="4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97FB-02F0-C3AB-2A30-0637C541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5ECD-E38F-4AE9-A17F-0E21F3BE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>
            <a:normAutofit/>
          </a:bodyPr>
          <a:lstStyle/>
          <a:p>
            <a:r>
              <a:rPr lang="en-US" b="1" dirty="0" err="1"/>
              <a:t>Pinia</a:t>
            </a:r>
            <a:r>
              <a:rPr lang="en-US" b="1" dirty="0"/>
              <a:t> library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69EBD2-178B-0A80-08D3-6E9DEC1EAC65}"/>
              </a:ext>
            </a:extLst>
          </p:cNvPr>
          <p:cNvSpPr txBox="1">
            <a:spLocks/>
          </p:cNvSpPr>
          <p:nvPr/>
        </p:nvSpPr>
        <p:spPr>
          <a:xfrm>
            <a:off x="202127" y="1557496"/>
            <a:ext cx="11950117" cy="149720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en-US" dirty="0"/>
              <a:t>1. </a:t>
            </a:r>
            <a:r>
              <a:rPr lang="en-US" b="1" dirty="0" err="1"/>
              <a:t>Pinia</a:t>
            </a:r>
            <a:r>
              <a:rPr lang="en-US" b="1" dirty="0"/>
              <a:t> </a:t>
            </a:r>
            <a:r>
              <a:rPr lang="en-US" dirty="0"/>
              <a:t>is a store library for Vue, it allows you to </a:t>
            </a:r>
            <a:r>
              <a:rPr lang="en-US" b="1" u="sng" dirty="0">
                <a:solidFill>
                  <a:srgbClr val="FF0000"/>
                </a:solidFill>
              </a:rPr>
              <a:t>share a state across components</a:t>
            </a:r>
            <a:r>
              <a:rPr lang="en-US" dirty="0"/>
              <a:t>/pages. </a:t>
            </a:r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     </a:t>
            </a:r>
            <a:r>
              <a:rPr lang="en-US" sz="2000" b="1" dirty="0">
                <a:hlinkClick r:id="rId3"/>
              </a:rPr>
              <a:t>https://pinia.vuejs.org/introduction.html</a:t>
            </a:r>
            <a:endParaRPr lang="en-US" sz="2000" b="1" dirty="0"/>
          </a:p>
          <a:p>
            <a:pPr lvl="1"/>
            <a:endParaRPr lang="en-US" sz="2000" b="1" dirty="0"/>
          </a:p>
          <a:p>
            <a:pPr lvl="1"/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3150C-FFD6-AD72-65B0-8569FDD44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448" y="2862116"/>
            <a:ext cx="6336395" cy="34372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13841F-62A8-0B72-E9B2-076513F446F2}"/>
              </a:ext>
            </a:extLst>
          </p:cNvPr>
          <p:cNvSpPr txBox="1"/>
          <p:nvPr/>
        </p:nvSpPr>
        <p:spPr>
          <a:xfrm>
            <a:off x="8289890" y="3205424"/>
            <a:ext cx="328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การ</a:t>
            </a:r>
            <a:r>
              <a:rPr lang="en-US" dirty="0"/>
              <a:t> share </a:t>
            </a:r>
            <a:r>
              <a:rPr lang="th-TH" dirty="0"/>
              <a:t>หรือ</a:t>
            </a:r>
            <a:endParaRPr lang="en-US" dirty="0"/>
          </a:p>
          <a:p>
            <a:r>
              <a:rPr lang="th-TH" dirty="0"/>
              <a:t>การสร้างตัวแปร</a:t>
            </a:r>
            <a:r>
              <a:rPr lang="en-US" dirty="0"/>
              <a:t> global state variable</a:t>
            </a:r>
          </a:p>
        </p:txBody>
      </p:sp>
    </p:spTree>
    <p:extLst>
      <p:ext uri="{BB962C8B-B14F-4D97-AF65-F5344CB8AC3E}">
        <p14:creationId xmlns:p14="http://schemas.microsoft.com/office/powerpoint/2010/main" val="153435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8751-60BD-3D44-CA3E-809CA8C4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7D82-4A17-E94D-62C6-3FBFFF23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>
            <a:normAutofit/>
          </a:bodyPr>
          <a:lstStyle/>
          <a:p>
            <a:r>
              <a:rPr lang="en-US" b="1" dirty="0" err="1"/>
              <a:t>Pinia</a:t>
            </a:r>
            <a:r>
              <a:rPr lang="en-US" b="1" dirty="0"/>
              <a:t> library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E17244-CB8F-6387-8FE2-2C3B5F5FD2EE}"/>
              </a:ext>
            </a:extLst>
          </p:cNvPr>
          <p:cNvSpPr txBox="1">
            <a:spLocks/>
          </p:cNvSpPr>
          <p:nvPr/>
        </p:nvSpPr>
        <p:spPr>
          <a:xfrm>
            <a:off x="202127" y="1310641"/>
            <a:ext cx="11950117" cy="489468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th-TH" sz="2800" b="1" dirty="0"/>
              <a:t>ขั้นตอนการใช้</a:t>
            </a:r>
            <a:r>
              <a:rPr lang="en-US" sz="2800" b="1" dirty="0"/>
              <a:t> </a:t>
            </a:r>
            <a:r>
              <a:rPr lang="en-US" sz="2800" b="1" dirty="0" err="1"/>
              <a:t>Pinia</a:t>
            </a:r>
            <a:endParaRPr lang="th-TH" sz="2800" b="1" dirty="0"/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1.</a:t>
            </a:r>
            <a:r>
              <a:rPr lang="th-TH" sz="2000" b="1" dirty="0"/>
              <a:t> ติดตั้ง</a:t>
            </a:r>
            <a:r>
              <a:rPr lang="en-US" sz="2000" b="1" dirty="0"/>
              <a:t> package </a:t>
            </a:r>
            <a:endParaRPr lang="th-TH" sz="2800" b="1" dirty="0"/>
          </a:p>
          <a:p>
            <a:pPr lvl="1"/>
            <a:r>
              <a:rPr lang="en-US" sz="2000" b="1" dirty="0"/>
              <a:t>		1.1</a:t>
            </a:r>
          </a:p>
          <a:p>
            <a:pPr lvl="1"/>
            <a:r>
              <a:rPr lang="en-US" sz="2000" b="1" dirty="0"/>
              <a:t>			</a:t>
            </a:r>
            <a:r>
              <a:rPr lang="en-US" sz="2000" b="1" dirty="0" err="1"/>
              <a:t>npm</a:t>
            </a:r>
            <a:r>
              <a:rPr lang="en-US" sz="2000" b="1" dirty="0"/>
              <a:t> install </a:t>
            </a:r>
            <a:r>
              <a:rPr lang="en-US" sz="2000" b="1" dirty="0" err="1"/>
              <a:t>pinia</a:t>
            </a:r>
            <a:endParaRPr lang="en-US" sz="2000" b="1" dirty="0"/>
          </a:p>
          <a:p>
            <a:pPr lvl="1"/>
            <a:r>
              <a:rPr lang="en-US" sz="2000" b="1" dirty="0"/>
              <a:t>			</a:t>
            </a:r>
          </a:p>
          <a:p>
            <a:pPr lvl="1"/>
            <a:r>
              <a:rPr lang="th-TH" sz="2000" b="1" dirty="0"/>
              <a:t>		</a:t>
            </a:r>
            <a:r>
              <a:rPr lang="en-US" sz="2000" b="1" dirty="0"/>
              <a:t>1.2 add </a:t>
            </a:r>
            <a:r>
              <a:rPr lang="en-US" sz="2000" dirty="0"/>
              <a:t>dependencies</a:t>
            </a:r>
            <a:r>
              <a:rPr lang="th-TH" sz="2000" b="1" dirty="0"/>
              <a:t> ใน</a:t>
            </a:r>
            <a:r>
              <a:rPr lang="en-US" sz="2000" b="1" dirty="0"/>
              <a:t> </a:t>
            </a:r>
            <a:r>
              <a:rPr lang="en-US" sz="2000" dirty="0" err="1"/>
              <a:t>package.json</a:t>
            </a:r>
            <a:endParaRPr lang="en-US" sz="2000" b="1" dirty="0"/>
          </a:p>
          <a:p>
            <a:pPr lvl="1"/>
            <a:r>
              <a:rPr lang="en-US" sz="2000" b="1" dirty="0"/>
              <a:t>			"dependencies": {</a:t>
            </a:r>
          </a:p>
          <a:p>
            <a:pPr lvl="1"/>
            <a:r>
              <a:rPr lang="en-US" sz="2000" b="1" dirty="0"/>
              <a:t> 				 "</a:t>
            </a:r>
            <a:r>
              <a:rPr lang="en-US" sz="2000" b="1" dirty="0" err="1"/>
              <a:t>vue</a:t>
            </a:r>
            <a:r>
              <a:rPr lang="en-US" sz="2000" b="1" dirty="0"/>
              <a:t>": "^3.3.11",</a:t>
            </a:r>
          </a:p>
          <a:p>
            <a:pPr lvl="1"/>
            <a:r>
              <a:rPr lang="en-US" sz="2000" b="1" dirty="0"/>
              <a:t>  				"</a:t>
            </a:r>
            <a:r>
              <a:rPr lang="en-US" sz="2000" b="1" dirty="0" err="1"/>
              <a:t>pinia</a:t>
            </a:r>
            <a:r>
              <a:rPr lang="en-US" sz="2000" b="1" dirty="0"/>
              <a:t>": "^3.0.0"</a:t>
            </a:r>
          </a:p>
          <a:p>
            <a:pPr lvl="1"/>
            <a:r>
              <a:rPr lang="en-US" sz="2000" b="1" dirty="0"/>
              <a:t>			}</a:t>
            </a:r>
            <a:endParaRPr lang="th-TH" sz="2000" b="1" dirty="0"/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  2. </a:t>
            </a:r>
            <a:r>
              <a:rPr lang="th-TH" sz="2000" b="1" dirty="0"/>
              <a:t>สร้าง</a:t>
            </a:r>
            <a:r>
              <a:rPr lang="en-US" sz="2000" b="1" dirty="0"/>
              <a:t> </a:t>
            </a:r>
            <a:r>
              <a:rPr lang="th-TH" sz="2000" b="1" dirty="0"/>
              <a:t>ตัวแปร</a:t>
            </a:r>
            <a:r>
              <a:rPr lang="en-US" sz="2000" b="1" dirty="0"/>
              <a:t> </a:t>
            </a:r>
            <a:r>
              <a:rPr lang="en-US" sz="2000" b="1" dirty="0" err="1"/>
              <a:t>Pinia</a:t>
            </a:r>
            <a:r>
              <a:rPr lang="en-US" sz="2000" b="1" dirty="0"/>
              <a:t> Share Storage  </a:t>
            </a:r>
            <a:r>
              <a:rPr lang="th-TH" sz="2000" b="1" dirty="0"/>
              <a:t>ด้วยฟังก์ชัน   </a:t>
            </a:r>
            <a:r>
              <a:rPr lang="en-US" sz="2000" b="1" dirty="0" err="1"/>
              <a:t>defineStore</a:t>
            </a:r>
            <a:endParaRPr lang="th-TH" sz="2000" b="1" dirty="0"/>
          </a:p>
          <a:p>
            <a:pPr lvl="1"/>
            <a:endParaRPr lang="th-TH" sz="2000" b="1" dirty="0"/>
          </a:p>
          <a:p>
            <a:pPr lvl="1"/>
            <a:r>
              <a:rPr lang="en-US" sz="2000" b="1" dirty="0"/>
              <a:t>  3. </a:t>
            </a:r>
            <a:r>
              <a:rPr lang="th-TH" sz="2000" b="1" dirty="0"/>
              <a:t>สร้าง</a:t>
            </a:r>
            <a:r>
              <a:rPr lang="en-US" sz="2000" b="1" dirty="0"/>
              <a:t> </a:t>
            </a:r>
            <a:r>
              <a:rPr lang="th-TH" sz="2000" b="1" dirty="0"/>
              <a:t> </a:t>
            </a:r>
            <a:r>
              <a:rPr lang="en-US" sz="2000" b="1" dirty="0" err="1"/>
              <a:t>Pinia</a:t>
            </a:r>
            <a:r>
              <a:rPr lang="en-US" sz="2000" b="1" dirty="0"/>
              <a:t> instance </a:t>
            </a:r>
            <a:r>
              <a:rPr lang="th-TH" sz="2000" b="1" dirty="0"/>
              <a:t>เพื่อเข้าถึง ตัวแปร</a:t>
            </a:r>
            <a:r>
              <a:rPr lang="en-US" sz="2000" b="1" dirty="0"/>
              <a:t> </a:t>
            </a:r>
            <a:r>
              <a:rPr lang="en-US" sz="2000" b="1" dirty="0" err="1"/>
              <a:t>Pinia</a:t>
            </a:r>
            <a:r>
              <a:rPr lang="en-US" sz="2000" b="1" dirty="0"/>
              <a:t> Share Storage </a:t>
            </a:r>
            <a:endParaRPr lang="th-TH" sz="2000" b="1" dirty="0"/>
          </a:p>
          <a:p>
            <a:pPr lvl="1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41616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112D-922C-C8AC-072F-33FB8EEA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2589AF-AFD5-8F08-E2CF-FCA8DE9A45A3}"/>
              </a:ext>
            </a:extLst>
          </p:cNvPr>
          <p:cNvSpPr txBox="1"/>
          <p:nvPr/>
        </p:nvSpPr>
        <p:spPr>
          <a:xfrm>
            <a:off x="898910" y="978383"/>
            <a:ext cx="4904990" cy="56323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import { </a:t>
            </a:r>
            <a:r>
              <a:rPr lang="en-US" b="1" dirty="0" err="1"/>
              <a:t>defineStore</a:t>
            </a:r>
            <a:r>
              <a:rPr lang="en-US" b="1" dirty="0"/>
              <a:t> } from '</a:t>
            </a:r>
            <a:r>
              <a:rPr lang="en-US" b="1" dirty="0" err="1"/>
              <a:t>pinia</a:t>
            </a:r>
            <a:r>
              <a:rPr lang="en-US" b="1" dirty="0"/>
              <a:t>'</a:t>
            </a:r>
          </a:p>
          <a:p>
            <a:endParaRPr lang="en-US" b="1" dirty="0"/>
          </a:p>
          <a:p>
            <a:r>
              <a:rPr lang="en-US" b="1" dirty="0"/>
              <a:t>export const </a:t>
            </a:r>
            <a:r>
              <a:rPr lang="en-US" b="1" dirty="0" err="1"/>
              <a:t>useCounterStore</a:t>
            </a:r>
            <a:r>
              <a:rPr lang="en-US" b="1" dirty="0"/>
              <a:t> =</a:t>
            </a:r>
          </a:p>
          <a:p>
            <a:r>
              <a:rPr lang="en-US" b="1" dirty="0"/>
              <a:t>  </a:t>
            </a:r>
            <a:r>
              <a:rPr lang="en-US" b="1" dirty="0" err="1"/>
              <a:t>defineStore</a:t>
            </a:r>
            <a:r>
              <a:rPr lang="en-US" b="1" dirty="0"/>
              <a:t>('counter', {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    state: () =&gt; ({</a:t>
            </a:r>
          </a:p>
          <a:p>
            <a:r>
              <a:rPr lang="en-US" b="1" dirty="0">
                <a:solidFill>
                  <a:srgbClr val="00B0F0"/>
                </a:solidFill>
              </a:rPr>
              <a:t>      count: 0</a:t>
            </a:r>
          </a:p>
          <a:p>
            <a:r>
              <a:rPr lang="en-US" b="1" dirty="0">
                <a:solidFill>
                  <a:srgbClr val="FF0000"/>
                </a:solidFill>
              </a:rPr>
              <a:t>    }),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    getters: {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</a:t>
            </a:r>
            <a:r>
              <a:rPr lang="en-US" b="1" dirty="0" err="1">
                <a:solidFill>
                  <a:srgbClr val="00B050"/>
                </a:solidFill>
              </a:rPr>
              <a:t>doubleCount</a:t>
            </a:r>
            <a:r>
              <a:rPr lang="en-US" b="1" dirty="0">
                <a:solidFill>
                  <a:srgbClr val="00B050"/>
                </a:solidFill>
              </a:rPr>
              <a:t> (state) {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</a:t>
            </a:r>
            <a:r>
              <a:rPr lang="th-TH" b="1" dirty="0">
                <a:solidFill>
                  <a:srgbClr val="00B050"/>
                </a:solidFill>
              </a:rPr>
              <a:t>  </a:t>
            </a:r>
            <a:r>
              <a:rPr lang="en-US" b="1" dirty="0">
                <a:solidFill>
                  <a:srgbClr val="00B050"/>
                </a:solidFill>
              </a:rPr>
              <a:t>  return </a:t>
            </a:r>
            <a:r>
              <a:rPr lang="en-US" b="1" dirty="0" err="1">
                <a:solidFill>
                  <a:srgbClr val="00B050"/>
                </a:solidFill>
              </a:rPr>
              <a:t>state.count</a:t>
            </a:r>
            <a:r>
              <a:rPr lang="en-US" b="1" dirty="0">
                <a:solidFill>
                  <a:srgbClr val="00B050"/>
                </a:solidFill>
              </a:rPr>
              <a:t> * 2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}</a:t>
            </a:r>
          </a:p>
          <a:p>
            <a:r>
              <a:rPr lang="en-US" b="1" dirty="0">
                <a:solidFill>
                  <a:srgbClr val="FF0000"/>
                </a:solidFill>
              </a:rPr>
              <a:t>    },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    actions: {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        increment() {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         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this.count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++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     }</a:t>
            </a:r>
          </a:p>
          <a:p>
            <a:r>
              <a:rPr lang="en-US" b="1" dirty="0">
                <a:solidFill>
                  <a:srgbClr val="FF0000"/>
                </a:solidFill>
              </a:rPr>
              <a:t>    }</a:t>
            </a:r>
          </a:p>
          <a:p>
            <a:endParaRPr lang="en-US" b="1" dirty="0"/>
          </a:p>
          <a:p>
            <a:r>
              <a:rPr lang="en-US" b="1" dirty="0"/>
              <a:t>})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C413A-C928-1568-93B6-8B9BE0891F78}"/>
              </a:ext>
            </a:extLst>
          </p:cNvPr>
          <p:cNvSpPr txBox="1"/>
          <p:nvPr/>
        </p:nvSpPr>
        <p:spPr>
          <a:xfrm>
            <a:off x="6848655" y="900729"/>
            <a:ext cx="4904990" cy="57554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import { </a:t>
            </a:r>
            <a:r>
              <a:rPr lang="en-US" sz="1600" b="1" dirty="0" err="1"/>
              <a:t>defineStore</a:t>
            </a:r>
            <a:r>
              <a:rPr lang="en-US" sz="1600" b="1" dirty="0"/>
              <a:t> } from '</a:t>
            </a:r>
            <a:r>
              <a:rPr lang="en-US" sz="1600" b="1" dirty="0" err="1"/>
              <a:t>pinia</a:t>
            </a:r>
            <a:r>
              <a:rPr lang="en-US" sz="1600" b="1" dirty="0"/>
              <a:t>'</a:t>
            </a:r>
          </a:p>
          <a:p>
            <a:r>
              <a:rPr lang="en-US" sz="1600" b="1" dirty="0"/>
              <a:t>import { ref, computed } from '</a:t>
            </a:r>
            <a:r>
              <a:rPr lang="en-US" sz="1600" b="1" dirty="0" err="1"/>
              <a:t>vue</a:t>
            </a:r>
            <a:r>
              <a:rPr lang="en-US" sz="1600" b="1" dirty="0"/>
              <a:t>’</a:t>
            </a:r>
          </a:p>
          <a:p>
            <a:r>
              <a:rPr lang="en-US" sz="1600" b="1" dirty="0"/>
              <a:t>//</a:t>
            </a:r>
            <a:r>
              <a:rPr lang="th-TH" sz="1600" dirty="0"/>
              <a:t>ตัวแปรชื่อ </a:t>
            </a:r>
            <a:r>
              <a:rPr lang="en-US" dirty="0" err="1"/>
              <a:t>useCounterStore</a:t>
            </a:r>
            <a:endParaRPr lang="en-US" sz="1600" b="1" dirty="0"/>
          </a:p>
          <a:p>
            <a:r>
              <a:rPr lang="en-US" sz="1600" b="1" dirty="0"/>
              <a:t>export const </a:t>
            </a:r>
            <a:r>
              <a:rPr lang="en-US" sz="1600" b="1" dirty="0" err="1"/>
              <a:t>useCounterStore</a:t>
            </a:r>
            <a:r>
              <a:rPr lang="en-US" sz="1600" b="1" dirty="0"/>
              <a:t> =</a:t>
            </a:r>
          </a:p>
          <a:p>
            <a:r>
              <a:rPr lang="en-US" sz="1600" b="1" dirty="0"/>
              <a:t>  </a:t>
            </a:r>
            <a:r>
              <a:rPr lang="en-US" sz="1600" b="1" dirty="0" err="1"/>
              <a:t>defineStore</a:t>
            </a:r>
            <a:r>
              <a:rPr lang="en-US" sz="1600" b="1" dirty="0"/>
              <a:t>(</a:t>
            </a:r>
            <a:r>
              <a:rPr lang="en-US" sz="1600" b="1" dirty="0">
                <a:solidFill>
                  <a:srgbClr val="FF0000"/>
                </a:solidFill>
              </a:rPr>
              <a:t>'counter</a:t>
            </a:r>
            <a:r>
              <a:rPr lang="en-US" sz="1600" b="1" dirty="0"/>
              <a:t>', () =&gt; {</a:t>
            </a:r>
          </a:p>
          <a:p>
            <a:endParaRPr lang="en-US" sz="1600" b="1" dirty="0"/>
          </a:p>
          <a:p>
            <a:r>
              <a:rPr lang="en-US" sz="1600" b="1" dirty="0">
                <a:solidFill>
                  <a:srgbClr val="00B0F0"/>
                </a:solidFill>
              </a:rPr>
              <a:t>    const count = ref(0)</a:t>
            </a:r>
          </a:p>
          <a:p>
            <a:endParaRPr lang="en-US" sz="1600" b="1" dirty="0"/>
          </a:p>
          <a:p>
            <a:r>
              <a:rPr lang="en-US" sz="1600" b="1" dirty="0"/>
              <a:t>    // computed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  const </a:t>
            </a:r>
            <a:r>
              <a:rPr lang="en-US" sz="1600" b="1" dirty="0" err="1">
                <a:solidFill>
                  <a:srgbClr val="00B050"/>
                </a:solidFill>
              </a:rPr>
              <a:t>doubleCount</a:t>
            </a:r>
            <a:r>
              <a:rPr lang="en-US" sz="1600" b="1" dirty="0">
                <a:solidFill>
                  <a:srgbClr val="00B050"/>
                </a:solidFill>
              </a:rPr>
              <a:t> = computed(() =&gt; {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    return </a:t>
            </a:r>
            <a:r>
              <a:rPr lang="en-US" sz="1600" b="1" dirty="0" err="1">
                <a:solidFill>
                  <a:srgbClr val="00B050"/>
                </a:solidFill>
              </a:rPr>
              <a:t>count.value</a:t>
            </a:r>
            <a:r>
              <a:rPr lang="en-US" sz="1600" b="1" dirty="0">
                <a:solidFill>
                  <a:srgbClr val="00B050"/>
                </a:solidFill>
              </a:rPr>
              <a:t> * 2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  })</a:t>
            </a:r>
          </a:p>
          <a:p>
            <a:endParaRPr lang="en-US" sz="1600" b="1" dirty="0"/>
          </a:p>
          <a:p>
            <a:r>
              <a:rPr lang="en-US" sz="1600" b="1" dirty="0"/>
              <a:t>    function increment() {</a:t>
            </a:r>
          </a:p>
          <a:p>
            <a:r>
              <a:rPr lang="en-US" sz="1600" b="1" dirty="0"/>
              <a:t>      </a:t>
            </a:r>
            <a:r>
              <a:rPr lang="en-US" sz="1600" b="1" dirty="0" err="1"/>
              <a:t>count.value</a:t>
            </a:r>
            <a:r>
              <a:rPr lang="en-US" sz="1600" b="1" dirty="0"/>
              <a:t>++</a:t>
            </a:r>
          </a:p>
          <a:p>
            <a:r>
              <a:rPr lang="en-US" sz="1600" b="1" dirty="0"/>
              <a:t>    }</a:t>
            </a:r>
          </a:p>
          <a:p>
            <a:endParaRPr lang="en-US" sz="1600" b="1" dirty="0"/>
          </a:p>
          <a:p>
            <a:r>
              <a:rPr lang="en-US" sz="1600" b="1" dirty="0"/>
              <a:t>    return {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    count,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    </a:t>
            </a:r>
            <a:r>
              <a:rPr lang="en-US" sz="1600" b="1" dirty="0" err="1">
                <a:highlight>
                  <a:srgbClr val="FFFF00"/>
                </a:highlight>
              </a:rPr>
              <a:t>doubleCount</a:t>
            </a:r>
            <a:r>
              <a:rPr lang="en-US" sz="1600" b="1" dirty="0">
                <a:highlight>
                  <a:srgbClr val="FFFF00"/>
                </a:highlight>
              </a:rPr>
              <a:t>,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     increment</a:t>
            </a:r>
          </a:p>
          <a:p>
            <a:r>
              <a:rPr lang="en-US" sz="1600" b="1" dirty="0"/>
              <a:t>    }</a:t>
            </a:r>
          </a:p>
          <a:p>
            <a:r>
              <a:rPr lang="en-US" sz="1600" b="1" dirty="0"/>
              <a:t>})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C3D091-DC9F-3153-6729-718EC99103F9}"/>
              </a:ext>
            </a:extLst>
          </p:cNvPr>
          <p:cNvSpPr txBox="1"/>
          <p:nvPr/>
        </p:nvSpPr>
        <p:spPr>
          <a:xfrm>
            <a:off x="6765060" y="524213"/>
            <a:ext cx="4016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Composition API</a:t>
            </a:r>
            <a:r>
              <a:rPr lang="th-TH" dirty="0"/>
              <a:t> </a:t>
            </a:r>
            <a:r>
              <a:rPr lang="en-US" dirty="0"/>
              <a:t>: “Setup Store”</a:t>
            </a:r>
            <a:endParaRPr lang="th-TH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EA0A8F-563A-718D-9A3E-AE0AE2A5E001}"/>
              </a:ext>
            </a:extLst>
          </p:cNvPr>
          <p:cNvSpPr txBox="1"/>
          <p:nvPr/>
        </p:nvSpPr>
        <p:spPr>
          <a:xfrm>
            <a:off x="937010" y="529606"/>
            <a:ext cx="3815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Options API : “Option Store”</a:t>
            </a:r>
            <a:r>
              <a:rPr lang="th-TH" dirty="0"/>
              <a:t> 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F44B7-2918-FE99-BF5C-98F229E485B3}"/>
              </a:ext>
            </a:extLst>
          </p:cNvPr>
          <p:cNvSpPr txBox="1"/>
          <p:nvPr/>
        </p:nvSpPr>
        <p:spPr>
          <a:xfrm>
            <a:off x="-2791" y="63080"/>
            <a:ext cx="7140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b="1" dirty="0">
                <a:highlight>
                  <a:srgbClr val="FFFF00"/>
                </a:highlight>
              </a:rPr>
              <a:t>การสร้างตัวแปร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b="1" dirty="0" err="1">
                <a:highlight>
                  <a:srgbClr val="FFFF00"/>
                </a:highlight>
              </a:rPr>
              <a:t>Pinia</a:t>
            </a:r>
            <a:r>
              <a:rPr lang="en-US" b="1" dirty="0">
                <a:highlight>
                  <a:srgbClr val="FFFF00"/>
                </a:highlight>
              </a:rPr>
              <a:t> Share Storage  </a:t>
            </a:r>
            <a:r>
              <a:rPr lang="th-TH" b="1" dirty="0">
                <a:highlight>
                  <a:srgbClr val="FFFF00"/>
                </a:highlight>
              </a:rPr>
              <a:t>ด้วยฟังก์ชัน   </a:t>
            </a:r>
            <a:r>
              <a:rPr lang="en-US" b="1" dirty="0" err="1">
                <a:highlight>
                  <a:srgbClr val="FFFF00"/>
                </a:highlight>
              </a:rPr>
              <a:t>defineStore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th-TH" dirty="0">
                <a:highlight>
                  <a:srgbClr val="FFFF00"/>
                </a:highlight>
              </a:rPr>
              <a:t>โดยสร้างใน </a:t>
            </a:r>
            <a:r>
              <a:rPr lang="en-US" dirty="0">
                <a:highlight>
                  <a:srgbClr val="FFFF00"/>
                </a:highlight>
              </a:rPr>
              <a:t> “.</a:t>
            </a:r>
            <a:r>
              <a:rPr lang="en-US" dirty="0" err="1">
                <a:highlight>
                  <a:srgbClr val="FFFF00"/>
                </a:highlight>
              </a:rPr>
              <a:t>js</a:t>
            </a:r>
            <a:r>
              <a:rPr lang="en-US" dirty="0">
                <a:highlight>
                  <a:srgbClr val="FFFF00"/>
                </a:highlight>
              </a:rPr>
              <a:t>”  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6F8E7-F966-0A13-6DEF-5677ADDBD74D}"/>
              </a:ext>
            </a:extLst>
          </p:cNvPr>
          <p:cNvSpPr txBox="1"/>
          <p:nvPr/>
        </p:nvSpPr>
        <p:spPr>
          <a:xfrm>
            <a:off x="7341235" y="107434"/>
            <a:ext cx="3667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AppStore.js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980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E020-B44F-BC97-E4AB-C134DAC1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D4E5FC9-4E75-0D2E-4849-095C44C7FC4F}"/>
              </a:ext>
            </a:extLst>
          </p:cNvPr>
          <p:cNvSpPr txBox="1"/>
          <p:nvPr/>
        </p:nvSpPr>
        <p:spPr>
          <a:xfrm>
            <a:off x="600255" y="811829"/>
            <a:ext cx="4904990" cy="57554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import { </a:t>
            </a:r>
            <a:r>
              <a:rPr lang="en-US" sz="1600" b="1" dirty="0" err="1"/>
              <a:t>defineStore</a:t>
            </a:r>
            <a:r>
              <a:rPr lang="en-US" sz="1600" b="1" dirty="0"/>
              <a:t> } from '</a:t>
            </a:r>
            <a:r>
              <a:rPr lang="en-US" sz="1600" b="1" dirty="0" err="1"/>
              <a:t>pinia</a:t>
            </a:r>
            <a:r>
              <a:rPr lang="en-US" sz="1600" b="1" dirty="0"/>
              <a:t>'</a:t>
            </a:r>
          </a:p>
          <a:p>
            <a:r>
              <a:rPr lang="en-US" sz="1600" b="1" dirty="0"/>
              <a:t>import { ref, computed } from '</a:t>
            </a:r>
            <a:r>
              <a:rPr lang="en-US" sz="1600" b="1" dirty="0" err="1"/>
              <a:t>vue</a:t>
            </a:r>
            <a:r>
              <a:rPr lang="en-US" sz="1600" b="1" dirty="0"/>
              <a:t>'</a:t>
            </a:r>
          </a:p>
          <a:p>
            <a:endParaRPr lang="en-US" sz="1600" b="1" dirty="0"/>
          </a:p>
          <a:p>
            <a:r>
              <a:rPr lang="en-US" sz="1600" b="1" dirty="0"/>
              <a:t>export const </a:t>
            </a:r>
            <a:r>
              <a:rPr lang="en-US" sz="1600" b="1" dirty="0" err="1"/>
              <a:t>useCounterStore</a:t>
            </a:r>
            <a:r>
              <a:rPr lang="en-US" sz="1600" b="1" dirty="0"/>
              <a:t> =</a:t>
            </a:r>
          </a:p>
          <a:p>
            <a:r>
              <a:rPr lang="en-US" sz="1600" b="1" dirty="0"/>
              <a:t>  </a:t>
            </a:r>
            <a:r>
              <a:rPr lang="en-US" sz="1600" b="1" dirty="0" err="1"/>
              <a:t>defineStore</a:t>
            </a:r>
            <a:r>
              <a:rPr lang="en-US" sz="1600" b="1" dirty="0"/>
              <a:t>('counter', () =&gt; {</a:t>
            </a:r>
          </a:p>
          <a:p>
            <a:endParaRPr lang="en-US" sz="1600" b="1" dirty="0"/>
          </a:p>
          <a:p>
            <a:r>
              <a:rPr lang="en-US" sz="1600" b="1" dirty="0">
                <a:solidFill>
                  <a:srgbClr val="00B0F0"/>
                </a:solidFill>
              </a:rPr>
              <a:t>    const count = ref(0)</a:t>
            </a:r>
          </a:p>
          <a:p>
            <a:endParaRPr lang="en-US" sz="1600" b="1" dirty="0"/>
          </a:p>
          <a:p>
            <a:r>
              <a:rPr lang="en-US" sz="1600" b="1" dirty="0"/>
              <a:t>    // computed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  const </a:t>
            </a:r>
            <a:r>
              <a:rPr lang="en-US" sz="1600" b="1" dirty="0" err="1">
                <a:solidFill>
                  <a:srgbClr val="00B050"/>
                </a:solidFill>
              </a:rPr>
              <a:t>doubleCount</a:t>
            </a:r>
            <a:r>
              <a:rPr lang="en-US" sz="1600" b="1" dirty="0">
                <a:solidFill>
                  <a:srgbClr val="00B050"/>
                </a:solidFill>
              </a:rPr>
              <a:t> = computed(() =&gt; {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    return </a:t>
            </a:r>
            <a:r>
              <a:rPr lang="en-US" sz="1600" b="1" dirty="0" err="1">
                <a:solidFill>
                  <a:srgbClr val="00B050"/>
                </a:solidFill>
              </a:rPr>
              <a:t>count.value</a:t>
            </a:r>
            <a:r>
              <a:rPr lang="en-US" sz="1600" b="1" dirty="0">
                <a:solidFill>
                  <a:srgbClr val="00B050"/>
                </a:solidFill>
              </a:rPr>
              <a:t> * 2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  })</a:t>
            </a:r>
          </a:p>
          <a:p>
            <a:endParaRPr lang="en-US" sz="1600" b="1" dirty="0"/>
          </a:p>
          <a:p>
            <a:r>
              <a:rPr lang="en-US" sz="1600" b="1" dirty="0"/>
              <a:t>    function increment() {</a:t>
            </a:r>
          </a:p>
          <a:p>
            <a:r>
              <a:rPr lang="en-US" sz="1600" b="1" dirty="0"/>
              <a:t>      </a:t>
            </a:r>
            <a:r>
              <a:rPr lang="en-US" sz="1600" b="1" dirty="0" err="1"/>
              <a:t>count.value</a:t>
            </a:r>
            <a:r>
              <a:rPr lang="en-US" sz="1600" b="1" dirty="0"/>
              <a:t>++</a:t>
            </a:r>
          </a:p>
          <a:p>
            <a:r>
              <a:rPr lang="en-US" sz="1600" b="1" dirty="0"/>
              <a:t>    }</a:t>
            </a:r>
          </a:p>
          <a:p>
            <a:endParaRPr lang="en-US" sz="1600" b="1" dirty="0"/>
          </a:p>
          <a:p>
            <a:r>
              <a:rPr lang="en-US" sz="1600" b="1" dirty="0"/>
              <a:t>    return {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    count,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    </a:t>
            </a:r>
            <a:r>
              <a:rPr lang="en-US" sz="1600" b="1" dirty="0" err="1">
                <a:highlight>
                  <a:srgbClr val="FFFF00"/>
                </a:highlight>
              </a:rPr>
              <a:t>doubleCount</a:t>
            </a:r>
            <a:r>
              <a:rPr lang="en-US" sz="1600" b="1" dirty="0">
                <a:highlight>
                  <a:srgbClr val="FFFF00"/>
                </a:highlight>
              </a:rPr>
              <a:t>,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     increment</a:t>
            </a:r>
          </a:p>
          <a:p>
            <a:r>
              <a:rPr lang="en-US" sz="1600" b="1" dirty="0"/>
              <a:t>    }</a:t>
            </a:r>
          </a:p>
          <a:p>
            <a:r>
              <a:rPr lang="en-US" sz="1600" b="1" dirty="0"/>
              <a:t>})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F7D61E-EDE6-2C06-040D-47C91674F739}"/>
              </a:ext>
            </a:extLst>
          </p:cNvPr>
          <p:cNvSpPr txBox="1"/>
          <p:nvPr/>
        </p:nvSpPr>
        <p:spPr>
          <a:xfrm>
            <a:off x="681760" y="430233"/>
            <a:ext cx="147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AppStore.js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5F8B8-F6A7-ACD4-54A9-08AC494069BE}"/>
              </a:ext>
            </a:extLst>
          </p:cNvPr>
          <p:cNvSpPr txBox="1"/>
          <p:nvPr/>
        </p:nvSpPr>
        <p:spPr>
          <a:xfrm>
            <a:off x="4620009" y="63080"/>
            <a:ext cx="2188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highlight>
                  <a:srgbClr val="FFFF00"/>
                </a:highlight>
              </a:rPr>
              <a:t> </a:t>
            </a:r>
            <a:r>
              <a:rPr lang="th-TH" b="1" dirty="0">
                <a:highlight>
                  <a:srgbClr val="FFFF00"/>
                </a:highlight>
              </a:rPr>
              <a:t>สร้าง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th-TH" b="1" dirty="0">
                <a:highlight>
                  <a:srgbClr val="FFFF00"/>
                </a:highlight>
              </a:rPr>
              <a:t> </a:t>
            </a:r>
            <a:r>
              <a:rPr lang="en-US" b="1" dirty="0" err="1">
                <a:highlight>
                  <a:srgbClr val="FFFF00"/>
                </a:highlight>
              </a:rPr>
              <a:t>Pinia</a:t>
            </a:r>
            <a:r>
              <a:rPr lang="en-US" b="1" dirty="0">
                <a:highlight>
                  <a:srgbClr val="FFFF00"/>
                </a:highlight>
              </a:rPr>
              <a:t> instance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EF481F-99B9-3F96-5419-20ABD4296AD8}"/>
              </a:ext>
            </a:extLst>
          </p:cNvPr>
          <p:cNvSpPr txBox="1"/>
          <p:nvPr/>
        </p:nvSpPr>
        <p:spPr>
          <a:xfrm>
            <a:off x="5009243" y="1188751"/>
            <a:ext cx="7805058" cy="42361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useCounterStore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'./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appStore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useCounterStore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store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count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++;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Count (var):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doubleCount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(computed) 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doubleCount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Name (var) 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474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76CA-3BA8-2B58-5D94-3B5EB853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1E29-EF6B-7602-8B8B-8B42A8C4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241793" cy="640080"/>
          </a:xfrm>
        </p:spPr>
        <p:txBody>
          <a:bodyPr>
            <a:normAutofit/>
          </a:bodyPr>
          <a:lstStyle/>
          <a:p>
            <a:r>
              <a:rPr lang="th-TH" dirty="0"/>
              <a:t>ตัวแปร</a:t>
            </a:r>
            <a:r>
              <a:rPr lang="en-US" dirty="0"/>
              <a:t> </a:t>
            </a:r>
            <a:r>
              <a:rPr lang="en-US" b="1" dirty="0" err="1">
                <a:highlight>
                  <a:srgbClr val="FFFF00"/>
                </a:highlight>
              </a:rPr>
              <a:t>Pinia</a:t>
            </a:r>
            <a:r>
              <a:rPr lang="en-US" b="1" dirty="0">
                <a:highlight>
                  <a:srgbClr val="FFFF00"/>
                </a:highlight>
              </a:rPr>
              <a:t> instance</a:t>
            </a:r>
            <a:r>
              <a:rPr lang="th-TH" b="1" dirty="0">
                <a:highlight>
                  <a:srgbClr val="FFFF00"/>
                </a:highlight>
              </a:rPr>
              <a:t>  </a:t>
            </a:r>
            <a:r>
              <a:rPr lang="en-US" b="1" dirty="0">
                <a:highlight>
                  <a:srgbClr val="FFFF00"/>
                </a:highlight>
              </a:rPr>
              <a:t>variable vs reactive variable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6A0EF7-EEB0-D219-A4A6-DC2D371C9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985" y="1088136"/>
            <a:ext cx="6819254" cy="563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40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560AF-920F-C979-669F-20E3CFBD6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ข้อระวังเรื่องการสร้าง</a:t>
            </a:r>
            <a:r>
              <a:rPr lang="en-US" dirty="0"/>
              <a:t> </a:t>
            </a:r>
            <a:r>
              <a:rPr lang="en-US" dirty="0" err="1"/>
              <a:t>pinia</a:t>
            </a:r>
            <a:r>
              <a:rPr lang="en-US" dirty="0"/>
              <a:t> storage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5E7FD-65D9-3121-3437-C3BE03571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964" y="1206500"/>
            <a:ext cx="7077357" cy="545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4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17459</TotalTime>
  <Words>1151</Words>
  <Application>Microsoft Office PowerPoint</Application>
  <PresentationFormat>Widescreen</PresentationFormat>
  <Paragraphs>208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Segoe UI Light</vt:lpstr>
      <vt:lpstr>Custom</vt:lpstr>
      <vt:lpstr> Pinia library  </vt:lpstr>
      <vt:lpstr>Pinia library</vt:lpstr>
      <vt:lpstr>Pinia library</vt:lpstr>
      <vt:lpstr>PowerPoint Presentation</vt:lpstr>
      <vt:lpstr>PowerPoint Presentation</vt:lpstr>
      <vt:lpstr>ตัวแปร Pinia instance  variable vs reactive variable</vt:lpstr>
      <vt:lpstr>ข้อระวังเรื่องการสร้าง pinia storage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150</cp:revision>
  <dcterms:created xsi:type="dcterms:W3CDTF">2026-02-24T13:07:23Z</dcterms:created>
  <dcterms:modified xsi:type="dcterms:W3CDTF">2026-05-19T06:55:08Z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