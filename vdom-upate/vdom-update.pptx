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4"/>
  </p:sldMasterIdLst>
  <p:notesMasterIdLst>
    <p:notesMasterId r:id="rId11"/>
  </p:notesMasterIdLst>
  <p:handoutMasterIdLst>
    <p:handoutMasterId r:id="rId12"/>
  </p:handoutMasterIdLst>
  <p:sldIdLst>
    <p:sldId id="256" r:id="rId5"/>
    <p:sldId id="314" r:id="rId6"/>
    <p:sldId id="316" r:id="rId7"/>
    <p:sldId id="310" r:id="rId8"/>
    <p:sldId id="318" r:id="rId9"/>
    <p:sldId id="315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Welcome" id="{E75E278A-FF0E-49A4-B170-79828D63BBAD}">
          <p14:sldIdLst>
            <p14:sldId id="256"/>
            <p14:sldId id="314"/>
            <p14:sldId id="316"/>
            <p14:sldId id="310"/>
            <p14:sldId id="318"/>
            <p14:sldId id="315"/>
          </p14:sldIdLst>
        </p14:section>
        <p14:section name="Design, Morph, Annotate, Work Together, Tell Me" id="{B9B51309-D148-4332-87C2-07BE32FBCA3B}">
          <p14:sldIdLst/>
        </p14:section>
        <p14:section name="Learn More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2" name="Author" initials="A" lastIdx="0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24726"/>
    <a:srgbClr val="404040"/>
    <a:srgbClr val="FF9B45"/>
    <a:srgbClr val="DD462F"/>
    <a:srgbClr val="F8CFB6"/>
    <a:srgbClr val="F8CAB6"/>
    <a:srgbClr val="923922"/>
    <a:srgbClr val="F5F5F5"/>
    <a:srgbClr val="F2F2F2"/>
    <a:srgbClr val="D2B4A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62" autoAdjust="0"/>
    <p:restoredTop sz="90809" autoAdjust="0"/>
  </p:normalViewPr>
  <p:slideViewPr>
    <p:cSldViewPr snapToGrid="0">
      <p:cViewPr varScale="1">
        <p:scale>
          <a:sx n="95" d="100"/>
          <a:sy n="95" d="100"/>
        </p:scale>
        <p:origin x="1020" y="96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-264"/>
    </p:cViewPr>
  </p:notesTextViewPr>
  <p:notesViewPr>
    <p:cSldViewPr snapToGrid="0">
      <p:cViewPr varScale="1">
        <p:scale>
          <a:sx n="84" d="100"/>
          <a:sy n="84" d="100"/>
        </p:scale>
        <p:origin x="3828" y="9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commentAuthors" Target="commentAuthor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handoutMaster" Target="handoutMasters/handoutMaster1.xml"/><Relationship Id="rId17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5" Type="http://schemas.openxmlformats.org/officeDocument/2006/relationships/viewProps" Target="viewProps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0680FBE-A8DF-4758-9AC4-3A9E1039168F}" type="datetimeFigureOut">
              <a:rPr lang="en-US" smtClean="0"/>
              <a:t>12/05/2026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C679768-A2FC-4D08-91F6-8DCE6C566B3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C13577B-6902-467D-A26C-08A0DD5E4E03}" type="datetimeFigureOut">
              <a:rPr lang="en-US" smtClean="0"/>
              <a:t>12/05/2026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F61EA0F-A667-4B49-8422-0062BC55E249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ttps://play.vuejs.org/#eNqVVMtu00AU/ZWpWThRY7tpuwDjRtCqi7KACigrbxx7nLidzFgzYycosgRsyh8gWCKxQkiwqOT+jT+FOzN5OH0Jsog995w799zjOzO3nue5WxbY8q1AxDzLJRJYFvkgpAhlk5xxiY7GGUlQytkE2a6nVyrFblHmiOMUVQuSARUcMyokmogROlCMjp3RvJC+3V2DYsymKYmWjDQiAgMceEYOCIGFxJOcRBJrWYERVDpZehBay/zQGgRGnCHpSghYE5ZgAkRQEVrIM+iQAxv+zKKQklH0LCZZfNHaEiRttbbXUj3KpHpCts5SOwReS5/Vs6SA1tJs5J4LRsHZuaoSWjGb5BnB/FUuM2g9tHykEYVFhLDpCx2TvMC9ZTwe4/jijvi5mKlYaJ1yLDAvcWitMBnxEZYGPn7zEs/gfQWCGwUB9gPgaywYKZRGQzssaAKyWzyt9kR/+oyO3orjmcRULJtSQhWz0vzQgnE4eqD1tdw9d1/nhbQCF1eDdsdstsduoUr9GD3EKeP4LE/gY/QYNS9JizKNZDxeLzdH9ta42t2ny2jMCioX8R0VJliisg+RHVh4Xt/VxcAPdDqOBAbnINrUP5r6sqm/NPXv5vpDU39r6qum/t7UX1EMNg6j+AI19cfm+nNT/4Kopl7BEsV6yjHBEwyFm/qTJlyCEGieqlihuwvpZtudThcdDBb+Ku2MYJewUcfuu5tMH9nbpi+3jEiBVVc6ZxXZ3oZQBccxpNq4jsZ6qEPx9F1EeoiRBJ73Fdx1dZZvL4k9ZDsDWJl02Nfs7Xm7/2jUT837o334D38Wc3C/NXvm6+FEeXLDkqoLn/LhGynJSjNTQr4nGK6QIeMJ5j7azWcIqmQJGsJuxt/FT3U04lAqcWJGGJAfpWn6JN7fYOVRksBM+ai/k88283UJh0dJVggfPVawpcUpNNhynMXMnp2gMuLZkGDkOFrv6nq8fTvqM2ko472B2QAO61y/VVXgQVSXX5PgEChG2b8JBx74AgU378fqLyLPQss=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F61EA0F-A667-4B49-8422-0062BC55E249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61EA0F-A667-4B49-8422-0062BC55E249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6809446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69768F-0A6F-3A3D-99BD-BC9F722C5B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130025-A246-8CD4-12AF-1FD39BA5987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67B0B5-91B6-34FD-EADA-539B47B66D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D7F184-E16F-D4D3-B0BD-655F29617E4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61EA0F-A667-4B49-8422-0062BC55E249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547611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C42263-5C25-9688-6957-7F486FF069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73ED0F-FB4C-C5AF-3977-78BE40196EF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97D564E-F9E9-A8B9-3AB2-4D7AD85AA9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D614F8-65E0-B6A6-EB75-20B6140CF24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61EA0F-A667-4B49-8422-0062BC55E249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5219601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endParaRPr lang="en-US" sz="1800" dirty="0"/>
          </a:p>
        </p:txBody>
      </p:sp>
      <p:cxnSp>
        <p:nvCxnSpPr>
          <p:cNvPr id="12" name="Straight Connector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marL="0" lvl="0" indent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en-US"/>
              <a:t>Click to edit Master text styles</a:t>
            </a:r>
          </a:p>
          <a:p>
            <a:pPr marL="0" lvl="1" indent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en-US"/>
              <a:t>Second level</a:t>
            </a:r>
          </a:p>
          <a:p>
            <a:pPr marL="0" lvl="2" indent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en-US"/>
              <a:t>Third level</a:t>
            </a:r>
          </a:p>
          <a:p>
            <a:pPr marL="0" lvl="3" indent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en-US"/>
              <a:t>Fourth level</a:t>
            </a:r>
          </a:p>
          <a:p>
            <a:pPr marL="0" lvl="4" indent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en-US"/>
              <a:t>Fifth level</a:t>
            </a:r>
            <a:endParaRPr lang="en-US" dirty="0"/>
          </a:p>
        </p:txBody>
      </p:sp>
      <p:sp>
        <p:nvSpPr>
          <p:cNvPr id="6" name="Date Placeholder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fld id="{8BEEBAAA-29B5-4AF5-BC5F-7E580C29002D}" type="datetimeFigureOut">
              <a:rPr lang="en-US" smtClean="0"/>
              <a:pPr/>
              <a:t>12/05/2026</a:t>
            </a:fld>
            <a:endParaRPr lang="en-US" dirty="0"/>
          </a:p>
        </p:txBody>
      </p:sp>
      <p:sp>
        <p:nvSpPr>
          <p:cNvPr id="7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8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fld id="{9860EDB8-5305-433F-BE41-D7A86D811DB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/>
          </a:p>
        </p:txBody>
      </p:sp>
      <p:sp>
        <p:nvSpPr>
          <p:cNvPr id="10" name="Rectangle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>
            <a:normAutofit/>
          </a:bodyPr>
          <a:lstStyle>
            <a:lvl1pPr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/>
          <p:cNvSpPr>
            <a:spLocks noGrp="1"/>
          </p:cNvSpPr>
          <p:nvPr>
            <p:ph sz="quarter" idx="13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marL="0" lvl="0" indent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en-US"/>
              <a:t>Click to edit Master text styles</a:t>
            </a:r>
          </a:p>
          <a:p>
            <a:pPr marL="0" lvl="1" indent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en-US"/>
              <a:t>Second level</a:t>
            </a:r>
          </a:p>
          <a:p>
            <a:pPr marL="0" lvl="2" indent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en-US"/>
              <a:t>Third level</a:t>
            </a:r>
          </a:p>
          <a:p>
            <a:pPr marL="0" lvl="3" indent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en-US"/>
              <a:t>Fourth level</a:t>
            </a:r>
          </a:p>
          <a:p>
            <a:pPr marL="0" lvl="4" indent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endParaRPr lang="en-US" sz="1800" dirty="0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fld id="{8BEEBAAA-29B5-4AF5-BC5F-7E580C29002D}" type="datetimeFigureOut">
              <a:rPr lang="en-US" smtClean="0"/>
              <a:pPr/>
              <a:t>12/05/2026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fld id="{9860EDB8-5305-433F-BE41-D7A86D811DB3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8" name="Straight Connector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</p:sldLayoutIdLst>
  <p:txStyles>
    <p:titleStyle>
      <a:lvl1pPr algn="l" defTabSz="914400" rtl="0" eaLnBrk="1" latinLnBrk="0" hangingPunct="1">
        <a:spcBef>
          <a:spcPct val="0"/>
        </a:spcBef>
        <a:buNone/>
        <a:defRPr sz="28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+mn-lt"/>
          <a:ea typeface="+mn-ea"/>
          <a:cs typeface="+mn-cs"/>
        </a:defRPr>
      </a:lvl1pPr>
      <a:lvl2pPr marL="228600" indent="-228600" algn="l" defTabSz="914400" rtl="0" eaLnBrk="1" latinLnBrk="0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+mn-lt"/>
          <a:ea typeface="+mn-ea"/>
          <a:cs typeface="+mn-cs"/>
        </a:defRPr>
      </a:lvl3pPr>
      <a:lvl4pPr marL="1143000" indent="-228600" algn="l" defTabSz="914400" rtl="0" eaLnBrk="1" latinLnBrk="0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4pPr>
      <a:lvl5pPr marL="1600200" indent="-228600" algn="l" defTabSz="914400" rtl="0" eaLnBrk="1" latinLnBrk="0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5pPr>
      <a:lvl6pPr marL="2057400" indent="-228600" algn="l" defTabSz="914400" rtl="0" eaLnBrk="1" latinLnBrk="0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0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0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0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PowerPoint program icon"/>
          <p:cNvPicPr>
            <a:picLocks noChangeAspect="1"/>
          </p:cNvPicPr>
          <p:nvPr/>
        </p:nvPicPr>
        <p:blipFill>
          <a:blip r:embed="rId3"/>
          <a:srcRect/>
          <a:stretch/>
        </p:blipFill>
        <p:spPr bwMode="invGray">
          <a:xfrm>
            <a:off x="670216" y="5193062"/>
            <a:ext cx="822960" cy="822960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750464F7-149D-DF35-1EFF-CCBF18889792}"/>
              </a:ext>
            </a:extLst>
          </p:cNvPr>
          <p:cNvSpPr txBox="1">
            <a:spLocks/>
          </p:cNvSpPr>
          <p:nvPr/>
        </p:nvSpPr>
        <p:spPr>
          <a:xfrm>
            <a:off x="769619" y="1401292"/>
            <a:ext cx="10962373" cy="2387600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spcBef>
                <a:spcPct val="0"/>
              </a:spcBef>
              <a:buNone/>
              <a:defRPr sz="28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br>
              <a:rPr lang="en-US" sz="3600" b="1" dirty="0">
                <a:solidFill>
                  <a:schemeClr val="bg1"/>
                </a:solidFill>
              </a:rPr>
            </a:br>
            <a:r>
              <a:rPr lang="en-US" sz="3600" b="1" dirty="0">
                <a:solidFill>
                  <a:schemeClr val="bg2">
                    <a:lumMod val="10000"/>
                  </a:schemeClr>
                </a:solidFill>
              </a:rPr>
              <a:t>Virtual DOM &amp; DOM in VUE Lifecycle: </a:t>
            </a:r>
          </a:p>
          <a:p>
            <a:pPr algn="ctr"/>
            <a:r>
              <a:rPr lang="en-US" sz="3600" b="1" dirty="0">
                <a:solidFill>
                  <a:schemeClr val="bg1"/>
                </a:solidFill>
              </a:rPr>
              <a:t>Hooking Function: Updating Phase</a:t>
            </a: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072F5E-B528-257B-A152-674CA2EAEE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307380"/>
            <a:ext cx="6877119" cy="640080"/>
          </a:xfrm>
        </p:spPr>
        <p:txBody>
          <a:bodyPr>
            <a:normAutofit/>
          </a:bodyPr>
          <a:lstStyle/>
          <a:p>
            <a:r>
              <a:rPr lang="nl-NL" b="1" dirty="0"/>
              <a:t>HTML DOM (Document Object Model) 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6E06298-102E-B2BD-C490-A40169C752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6382" y="1232062"/>
            <a:ext cx="8992855" cy="457263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DFF156F-05DB-D9BC-B1B7-159A262B5701}"/>
              </a:ext>
            </a:extLst>
          </p:cNvPr>
          <p:cNvSpPr txBox="1"/>
          <p:nvPr/>
        </p:nvSpPr>
        <p:spPr>
          <a:xfrm>
            <a:off x="1197639" y="6229980"/>
            <a:ext cx="7620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https://www.geeksforgeeks.org/javascript/dom-document-object-model/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9AA76D2-19DC-EC5C-F738-EBFD1C9476A8}"/>
              </a:ext>
            </a:extLst>
          </p:cNvPr>
          <p:cNvSpPr txBox="1"/>
          <p:nvPr/>
        </p:nvSpPr>
        <p:spPr>
          <a:xfrm>
            <a:off x="1386671" y="5898383"/>
            <a:ext cx="102740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Vue : create DOM  Based component concept</a:t>
            </a:r>
          </a:p>
        </p:txBody>
      </p:sp>
    </p:spTree>
    <p:extLst>
      <p:ext uri="{BB962C8B-B14F-4D97-AF65-F5344CB8AC3E}">
        <p14:creationId xmlns:p14="http://schemas.microsoft.com/office/powerpoint/2010/main" val="222713488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C371A2-BB8A-88C5-B17E-5889EBA67A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Virtual  </a:t>
            </a:r>
            <a:r>
              <a:rPr lang="en-US" dirty="0"/>
              <a:t>DOM (VDOM) CONCEPT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FDBCB9D-1086-FBE4-ACD6-DA37B842AA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2636" y="1173998"/>
            <a:ext cx="10557152" cy="3709613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7C1FC407-0E70-BFA0-D965-4F24C38AF6D5}"/>
              </a:ext>
            </a:extLst>
          </p:cNvPr>
          <p:cNvSpPr txBox="1"/>
          <p:nvPr/>
        </p:nvSpPr>
        <p:spPr>
          <a:xfrm>
            <a:off x="3519438" y="4768497"/>
            <a:ext cx="2248316" cy="1754326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pt-BR" dirty="0">
                <a:solidFill>
                  <a:srgbClr val="FF0000"/>
                </a:solidFill>
              </a:rPr>
              <a:t>function render() {</a:t>
            </a:r>
          </a:p>
          <a:p>
            <a:r>
              <a:rPr lang="pt-BR" dirty="0">
                <a:solidFill>
                  <a:srgbClr val="FF0000"/>
                </a:solidFill>
              </a:rPr>
              <a:t>  return h('div', [</a:t>
            </a:r>
          </a:p>
          <a:p>
            <a:r>
              <a:rPr lang="pt-BR" dirty="0">
                <a:solidFill>
                  <a:srgbClr val="FF0000"/>
                </a:solidFill>
              </a:rPr>
              <a:t>    h('h1', 'Hello'),</a:t>
            </a:r>
          </a:p>
          <a:p>
            <a:r>
              <a:rPr lang="pt-BR" dirty="0">
                <a:solidFill>
                  <a:srgbClr val="FF0000"/>
                </a:solidFill>
              </a:rPr>
              <a:t>    h('p', msg)</a:t>
            </a:r>
          </a:p>
          <a:p>
            <a:r>
              <a:rPr lang="pt-BR" dirty="0">
                <a:solidFill>
                  <a:srgbClr val="FF0000"/>
                </a:solidFill>
              </a:rPr>
              <a:t>  ])</a:t>
            </a:r>
          </a:p>
          <a:p>
            <a:r>
              <a:rPr lang="pt-BR" dirty="0">
                <a:solidFill>
                  <a:srgbClr val="FF0000"/>
                </a:solidFill>
              </a:rPr>
              <a:t>}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74CD046-80E0-8472-1B95-AB5DE6218684}"/>
              </a:ext>
            </a:extLst>
          </p:cNvPr>
          <p:cNvSpPr txBox="1"/>
          <p:nvPr/>
        </p:nvSpPr>
        <p:spPr>
          <a:xfrm>
            <a:off x="6684676" y="4963778"/>
            <a:ext cx="2579904" cy="1477328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dirty="0"/>
              <a:t>div</a:t>
            </a:r>
          </a:p>
          <a:p>
            <a:r>
              <a:rPr lang="en-US" dirty="0"/>
              <a:t> ├── h1</a:t>
            </a:r>
          </a:p>
          <a:p>
            <a:r>
              <a:rPr lang="en-US" dirty="0"/>
              <a:t> │    </a:t>
            </a:r>
            <a:r>
              <a:rPr lang="th-TH" dirty="0"/>
              <a:t>    </a:t>
            </a:r>
            <a:r>
              <a:rPr lang="en-US" dirty="0"/>
              <a:t>└── "Hello"</a:t>
            </a:r>
          </a:p>
          <a:p>
            <a:r>
              <a:rPr lang="en-US" dirty="0"/>
              <a:t> └── p</a:t>
            </a:r>
          </a:p>
          <a:p>
            <a:r>
              <a:rPr lang="en-US" dirty="0"/>
              <a:t>    </a:t>
            </a:r>
            <a:r>
              <a:rPr lang="th-TH" dirty="0"/>
              <a:t>      </a:t>
            </a:r>
            <a:r>
              <a:rPr lang="en-US" dirty="0"/>
              <a:t>  └── msg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523CDBD-20A0-011B-9A51-0C1663E43286}"/>
              </a:ext>
            </a:extLst>
          </p:cNvPr>
          <p:cNvSpPr txBox="1"/>
          <p:nvPr/>
        </p:nvSpPr>
        <p:spPr>
          <a:xfrm>
            <a:off x="738563" y="5031934"/>
            <a:ext cx="2125217" cy="120032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-US" dirty="0"/>
              <a:t>&lt;div&gt;</a:t>
            </a:r>
          </a:p>
          <a:p>
            <a:r>
              <a:rPr lang="en-US" dirty="0"/>
              <a:t>  &lt;h1&gt;Hello&lt;/h1&gt;</a:t>
            </a:r>
          </a:p>
          <a:p>
            <a:r>
              <a:rPr lang="en-US" dirty="0"/>
              <a:t>  &lt;p&gt;{{ msg }}&lt;/p&gt;</a:t>
            </a:r>
          </a:p>
          <a:p>
            <a:r>
              <a:rPr lang="en-US" dirty="0"/>
              <a:t>&lt;/div&gt;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A41671F-2B59-1886-AF45-99916FADBC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92687" y="2910331"/>
            <a:ext cx="1517301" cy="1037338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7D24C082-63DE-7273-F710-68AF14B8C95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92765" y="2708387"/>
            <a:ext cx="2510136" cy="19808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39311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36D8CA-6CAA-A0F0-D78C-62E4F460A3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4953" y="448056"/>
            <a:ext cx="6877119" cy="640080"/>
          </a:xfrm>
        </p:spPr>
        <p:txBody>
          <a:bodyPr/>
          <a:lstStyle/>
          <a:p>
            <a:r>
              <a:rPr lang="th-TH" b="1" dirty="0"/>
              <a:t>กระบวนการ</a:t>
            </a:r>
            <a:r>
              <a:rPr lang="en-US" b="1" dirty="0"/>
              <a:t> render component </a:t>
            </a:r>
            <a:r>
              <a:rPr lang="th-TH" b="1" dirty="0"/>
              <a:t>ของ</a:t>
            </a:r>
            <a:r>
              <a:rPr lang="en-US" b="1" dirty="0"/>
              <a:t> VUE</a:t>
            </a:r>
            <a:endParaRPr lang="nl-NL" b="1" dirty="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208A15A6-F226-8E3A-F86B-BF468F682754}"/>
              </a:ext>
            </a:extLst>
          </p:cNvPr>
          <p:cNvSpPr txBox="1">
            <a:spLocks/>
          </p:cNvSpPr>
          <p:nvPr/>
        </p:nvSpPr>
        <p:spPr>
          <a:xfrm>
            <a:off x="202127" y="0"/>
            <a:ext cx="11950117" cy="6690419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0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marL="514350" indent="-514350">
              <a:buAutoNum type="arabicPeriod"/>
            </a:pPr>
            <a:r>
              <a:rPr lang="en-US" sz="3200" b="1" dirty="0"/>
              <a:t>Creation Phase: </a:t>
            </a:r>
          </a:p>
          <a:p>
            <a:pPr lvl="1"/>
            <a:r>
              <a:rPr lang="en-US" sz="2200" dirty="0"/>
              <a:t>	Component is initialized, but </a:t>
            </a:r>
            <a:r>
              <a:rPr lang="en-US" sz="2200" b="1" dirty="0"/>
              <a:t>not yet in DOM</a:t>
            </a:r>
          </a:p>
          <a:p>
            <a:pPr marL="514350" indent="-514350">
              <a:buAutoNum type="arabicPeriod"/>
            </a:pPr>
            <a:endParaRPr lang="en-US" sz="3200" b="1" dirty="0"/>
          </a:p>
          <a:p>
            <a:pPr marL="514350" indent="-514350">
              <a:buAutoNum type="arabicPeriod"/>
            </a:pPr>
            <a:r>
              <a:rPr lang="en-US" sz="3200" b="1" dirty="0"/>
              <a:t>Mounting Phase: </a:t>
            </a:r>
          </a:p>
          <a:p>
            <a:pPr lvl="1"/>
            <a:r>
              <a:rPr lang="en-US" sz="2200" dirty="0"/>
              <a:t>		</a:t>
            </a:r>
          </a:p>
          <a:p>
            <a:pPr lvl="1"/>
            <a:endParaRPr lang="en-US" sz="3200" b="1" dirty="0"/>
          </a:p>
          <a:p>
            <a:pPr marL="514350" indent="-514350">
              <a:buAutoNum type="arabicPeriod"/>
            </a:pPr>
            <a:r>
              <a:rPr lang="en-US" sz="3200" b="1" dirty="0"/>
              <a:t>Updating Phase: </a:t>
            </a:r>
          </a:p>
          <a:p>
            <a:pPr lvl="1"/>
            <a:endParaRPr lang="en-US" sz="2200" dirty="0"/>
          </a:p>
          <a:p>
            <a:pPr lvl="1"/>
            <a:r>
              <a:rPr lang="en-US" sz="2200" dirty="0"/>
              <a:t>	</a:t>
            </a:r>
            <a:endParaRPr lang="en-US" sz="3200" b="1" dirty="0"/>
          </a:p>
          <a:p>
            <a:pPr marL="514350" indent="-514350">
              <a:buAutoNum type="arabicPeriod"/>
            </a:pPr>
            <a:r>
              <a:rPr lang="en-US" sz="3200" b="1" dirty="0"/>
              <a:t>Unmounting Phase: </a:t>
            </a:r>
          </a:p>
          <a:p>
            <a:pPr lvl="1"/>
            <a:r>
              <a:rPr lang="en-US" sz="2200" dirty="0"/>
              <a:t>	Component is removed from DOM</a:t>
            </a:r>
            <a:endParaRPr lang="en-US" sz="2200" b="1" dirty="0"/>
          </a:p>
          <a:p>
            <a:endParaRPr lang="en-US" sz="4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C48107E-F36F-3892-7005-98789F36B3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39257" y="3218487"/>
            <a:ext cx="1195897" cy="81760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90C2767-EAE9-4B76-FB60-DBB2490F3F7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58046" y="2579254"/>
            <a:ext cx="1939473" cy="153052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E93DA91-2EF3-D525-50EB-EE4D33D99CA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5022038"/>
            <a:ext cx="1758748" cy="138790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D27AD51-2856-C462-6A39-6C8E6F3C4F7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7099" y="5013943"/>
            <a:ext cx="2054535" cy="1274836"/>
          </a:xfrm>
          <a:prstGeom prst="rect">
            <a:avLst/>
          </a:prstGeom>
        </p:spPr>
      </p:pic>
      <p:sp>
        <p:nvSpPr>
          <p:cNvPr id="10" name="Arrow: Right 9">
            <a:extLst>
              <a:ext uri="{FF2B5EF4-FFF2-40B4-BE49-F238E27FC236}">
                <a16:creationId xmlns:a16="http://schemas.microsoft.com/office/drawing/2014/main" id="{9EA17B37-C1BB-67A0-6151-FEE90827EA84}"/>
              </a:ext>
            </a:extLst>
          </p:cNvPr>
          <p:cNvSpPr/>
          <p:nvPr/>
        </p:nvSpPr>
        <p:spPr>
          <a:xfrm>
            <a:off x="5385916" y="3429000"/>
            <a:ext cx="492370" cy="31903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Arrow: Right 10">
            <a:extLst>
              <a:ext uri="{FF2B5EF4-FFF2-40B4-BE49-F238E27FC236}">
                <a16:creationId xmlns:a16="http://schemas.microsoft.com/office/drawing/2014/main" id="{72B30780-AEA7-3F6F-7CB3-7275E0929F9A}"/>
              </a:ext>
            </a:extLst>
          </p:cNvPr>
          <p:cNvSpPr/>
          <p:nvPr/>
        </p:nvSpPr>
        <p:spPr>
          <a:xfrm>
            <a:off x="8110695" y="5651361"/>
            <a:ext cx="492370" cy="31903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90261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45517D-2D0C-8091-E437-005EB3D4E7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073377-4C06-2D41-1F05-9E6FF6BB33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4953" y="448056"/>
            <a:ext cx="6877119" cy="640080"/>
          </a:xfrm>
        </p:spPr>
        <p:txBody>
          <a:bodyPr/>
          <a:lstStyle/>
          <a:p>
            <a:r>
              <a:rPr lang="th-TH" b="1" dirty="0"/>
              <a:t>กลไกลการ</a:t>
            </a:r>
            <a:r>
              <a:rPr lang="en-US" b="1" dirty="0"/>
              <a:t> Update Browser DOM</a:t>
            </a:r>
            <a:endParaRPr lang="nl-NL" b="1" dirty="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C627BE79-6282-3A4E-CFD5-098AF518AF6A}"/>
              </a:ext>
            </a:extLst>
          </p:cNvPr>
          <p:cNvSpPr txBox="1">
            <a:spLocks/>
          </p:cNvSpPr>
          <p:nvPr/>
        </p:nvSpPr>
        <p:spPr>
          <a:xfrm>
            <a:off x="202127" y="448057"/>
            <a:ext cx="11950117" cy="277043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0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marL="514350" indent="-514350">
              <a:buAutoNum type="arabicPeriod"/>
            </a:pPr>
            <a:endParaRPr lang="en-US" sz="3200" b="1" dirty="0"/>
          </a:p>
          <a:p>
            <a:pPr lvl="1"/>
            <a:r>
              <a:rPr lang="en-US" sz="2200" dirty="0"/>
              <a:t>		</a:t>
            </a:r>
          </a:p>
          <a:p>
            <a:pPr lvl="1"/>
            <a:endParaRPr lang="en-US" sz="3200" b="1" dirty="0"/>
          </a:p>
          <a:p>
            <a:pPr lvl="1"/>
            <a:endParaRPr lang="en-US" sz="2200" dirty="0"/>
          </a:p>
          <a:p>
            <a:pPr lvl="1"/>
            <a:r>
              <a:rPr lang="en-US" sz="2200" dirty="0"/>
              <a:t>	</a:t>
            </a:r>
            <a:endParaRPr lang="en-US" sz="3200" b="1" dirty="0"/>
          </a:p>
          <a:p>
            <a:endParaRPr lang="en-US" sz="4000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91657C6-33CB-B3EF-68AE-DA390D8B5576}"/>
              </a:ext>
            </a:extLst>
          </p:cNvPr>
          <p:cNvSpPr txBox="1"/>
          <p:nvPr/>
        </p:nvSpPr>
        <p:spPr>
          <a:xfrm>
            <a:off x="200968" y="1507257"/>
            <a:ext cx="2880469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//state </a:t>
            </a:r>
            <a:r>
              <a:rPr lang="en-US" dirty="0" err="1"/>
              <a:t>varaible</a:t>
            </a:r>
            <a:endParaRPr lang="en-US" dirty="0"/>
          </a:p>
          <a:p>
            <a:r>
              <a:rPr lang="en-US" dirty="0"/>
              <a:t>const  count = ref(0)</a:t>
            </a:r>
          </a:p>
          <a:p>
            <a:r>
              <a:rPr lang="en-US" dirty="0"/>
              <a:t>const  obj =reactive( </a:t>
            </a:r>
          </a:p>
          <a:p>
            <a:r>
              <a:rPr lang="en-US" dirty="0"/>
              <a:t>                     { </a:t>
            </a:r>
          </a:p>
          <a:p>
            <a:r>
              <a:rPr lang="en-US" dirty="0"/>
              <a:t>                         </a:t>
            </a:r>
            <a:r>
              <a:rPr lang="en-US" dirty="0" err="1"/>
              <a:t>name:’test</a:t>
            </a:r>
            <a:r>
              <a:rPr lang="en-US" dirty="0"/>
              <a:t>’,</a:t>
            </a:r>
          </a:p>
          <a:p>
            <a:r>
              <a:rPr lang="en-US" dirty="0"/>
              <a:t>                         score: 10</a:t>
            </a:r>
          </a:p>
          <a:p>
            <a:r>
              <a:rPr lang="en-US" dirty="0"/>
              <a:t>                        }</a:t>
            </a:r>
          </a:p>
          <a:p>
            <a:r>
              <a:rPr lang="en-US" dirty="0"/>
              <a:t>                     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B49D5F7-3A15-5F14-4650-77A31FE0A61C}"/>
              </a:ext>
            </a:extLst>
          </p:cNvPr>
          <p:cNvSpPr txBox="1"/>
          <p:nvPr/>
        </p:nvSpPr>
        <p:spPr>
          <a:xfrm>
            <a:off x="303962" y="5849365"/>
            <a:ext cx="462977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dirty="0"/>
              <a:t>&lt;button @click="count++"&gt;Add&lt;/button&gt;</a:t>
            </a:r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A03B523-5858-F160-5B77-79A17E739C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85451" y="1481800"/>
            <a:ext cx="8804422" cy="4008445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596AF91-84FB-D55D-7971-9377A71E8CE9}"/>
              </a:ext>
            </a:extLst>
          </p:cNvPr>
          <p:cNvSpPr txBox="1"/>
          <p:nvPr/>
        </p:nvSpPr>
        <p:spPr>
          <a:xfrm>
            <a:off x="3647552" y="3318470"/>
            <a:ext cx="11190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highlight>
                  <a:srgbClr val="FFFF00"/>
                </a:highlight>
              </a:rPr>
              <a:t>Mounted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22B6BAF-480D-D3C9-A245-A4C2C5C009B2}"/>
              </a:ext>
            </a:extLst>
          </p:cNvPr>
          <p:cNvSpPr txBox="1"/>
          <p:nvPr/>
        </p:nvSpPr>
        <p:spPr>
          <a:xfrm>
            <a:off x="4676142" y="1457012"/>
            <a:ext cx="8705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button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3D3949FF-729F-5552-C327-540CF53C2FFC}"/>
              </a:ext>
            </a:extLst>
          </p:cNvPr>
          <p:cNvCxnSpPr>
            <a:stCxn id="12" idx="2"/>
          </p:cNvCxnSpPr>
          <p:nvPr/>
        </p:nvCxnSpPr>
        <p:spPr>
          <a:xfrm flipH="1">
            <a:off x="4766576" y="1826344"/>
            <a:ext cx="344846" cy="26371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7893925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299CE5-180D-6BB0-D99D-E6BD925443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93D388-9187-868F-F36D-4CFFF1FE7A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4953" y="211753"/>
            <a:ext cx="9910849" cy="640080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VUE3 Hook Function : </a:t>
            </a:r>
            <a:r>
              <a:rPr lang="en-US" dirty="0" err="1"/>
              <a:t>onBeforeUpdate</a:t>
            </a:r>
            <a:r>
              <a:rPr lang="en-US" dirty="0"/>
              <a:t> &amp; </a:t>
            </a:r>
            <a:r>
              <a:rPr lang="en-US" dirty="0" err="1"/>
              <a:t>onUpdated</a:t>
            </a:r>
            <a:r>
              <a:rPr lang="en-US" dirty="0"/>
              <a:t> </a:t>
            </a:r>
            <a:r>
              <a:rPr lang="en-US" b="1" dirty="0"/>
              <a:t>Updating </a:t>
            </a:r>
            <a:r>
              <a:rPr lang="en-US" dirty="0"/>
              <a:t>Phase</a:t>
            </a:r>
            <a:endParaRPr lang="nl-NL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717E9C7-D9F3-65D7-0DFC-FB44A6A8CE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02706" y="1424777"/>
            <a:ext cx="8804422" cy="400844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A0BCFB0-C0C8-46D9-ED1C-A219BEC02A63}"/>
              </a:ext>
            </a:extLst>
          </p:cNvPr>
          <p:cNvSpPr txBox="1"/>
          <p:nvPr/>
        </p:nvSpPr>
        <p:spPr>
          <a:xfrm>
            <a:off x="346752" y="4294863"/>
            <a:ext cx="205595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/>
              <a:t>onBeforeUpdate</a:t>
            </a:r>
            <a:r>
              <a:rPr lang="en-US" dirty="0"/>
              <a:t>()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300A381-2086-152D-E41A-E1CABEBA36CF}"/>
              </a:ext>
            </a:extLst>
          </p:cNvPr>
          <p:cNvSpPr txBox="1"/>
          <p:nvPr/>
        </p:nvSpPr>
        <p:spPr>
          <a:xfrm>
            <a:off x="10095237" y="4067119"/>
            <a:ext cx="191356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/>
              <a:t>onUpdated</a:t>
            </a:r>
            <a:r>
              <a:rPr lang="en-US" dirty="0"/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1914339352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F10001108_Win32 v2" id="{08D89365-2E4C-432D-9349-8DF9B80AEEA1}" vid="{010FF314-90DF-4A21-BD0D-ADCBA34234AC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7" ma:contentTypeDescription="Create a new document." ma:contentTypeScope="" ma:versionID="c6f9a84f66a9c8b9a21755b9ffafb945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27df39e3e7036dff54f89ddd5805ce72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B2FC9C26-AD58-4393-99DE-F67958CF6A2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5A3EE4EA-81C0-48D0-BEBD-A2EFD6B38B42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3.xml><?xml version="1.0" encoding="utf-8"?>
<ds:datastoreItem xmlns:ds="http://schemas.openxmlformats.org/officeDocument/2006/customXml" ds:itemID="{5563EE24-83AF-4B4D-B45B-11D1ECD4364A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{0A4678A9-783C-4CAF-B8D9-4F496E21560C}TF2989475c-5427-4edb-9ec1-00f4ce72165b77c8433f_win32-c33c42577f73</Template>
  <TotalTime>14365</TotalTime>
  <Words>290</Words>
  <Application>Microsoft Office PowerPoint</Application>
  <PresentationFormat>Widescreen</PresentationFormat>
  <Paragraphs>58</Paragraphs>
  <Slides>6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Arial</vt:lpstr>
      <vt:lpstr>Calibri</vt:lpstr>
      <vt:lpstr>Segoe UI</vt:lpstr>
      <vt:lpstr>Segoe UI Light</vt:lpstr>
      <vt:lpstr>Custom</vt:lpstr>
      <vt:lpstr>PowerPoint Presentation</vt:lpstr>
      <vt:lpstr>HTML DOM (Document Object Model) </vt:lpstr>
      <vt:lpstr>Virtual  DOM (VDOM) CONCEPT</vt:lpstr>
      <vt:lpstr>กระบวนการ render component ของ VUE</vt:lpstr>
      <vt:lpstr>กลไกลการ Update Browser DOM</vt:lpstr>
      <vt:lpstr>VUE3 Hook Function : onBeforeUpdate &amp; onUpdated Updating Phase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rapirak jirayu</dc:creator>
  <cp:keywords/>
  <cp:lastModifiedBy>rapirak jirayu</cp:lastModifiedBy>
  <cp:revision>108</cp:revision>
  <dcterms:created xsi:type="dcterms:W3CDTF">2026-02-24T13:07:23Z</dcterms:created>
  <dcterms:modified xsi:type="dcterms:W3CDTF">2026-05-12T09:08:46Z</dcterms:modified>
  <cp:version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